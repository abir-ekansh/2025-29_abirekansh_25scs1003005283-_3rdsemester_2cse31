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1301" y="31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376E5D-9056-4BF7-BC75-FA82674BF459}" type="datetimeFigureOut">
              <a:rPr lang="en-IN" smtClean="0"/>
              <a:t>09-09-2026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AE909E-2A59-49D5-9755-656F6506611E}" type="slidenum">
              <a:rPr lang="en-IN" smtClean="0"/>
              <a:t>‹#›</a:t>
            </a:fld>
            <a:endParaRPr lang="en-IN" dirty="0"/>
          </a:p>
        </p:txBody>
      </p:sp>
    </p:spTree>
    <p:extLst>
      <p:ext uri="{BB962C8B-B14F-4D97-AF65-F5344CB8AC3E}">
        <p14:creationId xmlns:p14="http://schemas.microsoft.com/office/powerpoint/2010/main" val="4123263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AE909E-2A59-49D5-9755-656F6506611E}" type="slidenum">
              <a:rPr lang="en-IN" smtClean="0"/>
              <a:t>10</a:t>
            </a:fld>
            <a:endParaRPr lang="en-IN" dirty="0"/>
          </a:p>
        </p:txBody>
      </p:sp>
    </p:spTree>
    <p:extLst>
      <p:ext uri="{BB962C8B-B14F-4D97-AF65-F5344CB8AC3E}">
        <p14:creationId xmlns:p14="http://schemas.microsoft.com/office/powerpoint/2010/main" val="274825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25.png"/><Relationship Id="rId5" Type="http://schemas.openxmlformats.org/officeDocument/2006/relationships/image" Target="../media/image12.png"/><Relationship Id="rId10"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7277100" y="4815929"/>
            <a:ext cx="3771900" cy="1375320"/>
          </a:xfrm>
          <a:prstGeom prst="rect">
            <a:avLst/>
          </a:prstGeom>
        </p:spPr>
      </p:pic>
      <p:pic>
        <p:nvPicPr>
          <p:cNvPr id="4" name="Picture 3" descr="image.png"/>
          <p:cNvPicPr>
            <a:picLocks noChangeAspect="1"/>
          </p:cNvPicPr>
          <p:nvPr/>
        </p:nvPicPr>
        <p:blipFill>
          <a:blip r:embed="rId4"/>
          <a:stretch>
            <a:fillRect/>
          </a:stretch>
        </p:blipFill>
        <p:spPr>
          <a:xfrm>
            <a:off x="7277100" y="1019175"/>
            <a:ext cx="4343400" cy="2162175"/>
          </a:xfrm>
          <a:prstGeom prst="rect">
            <a:avLst/>
          </a:prstGeom>
        </p:spPr>
      </p:pic>
      <p:pic>
        <p:nvPicPr>
          <p:cNvPr id="5" name="Picture 4" descr="image.png"/>
          <p:cNvPicPr>
            <a:picLocks noChangeAspect="1"/>
          </p:cNvPicPr>
          <p:nvPr/>
        </p:nvPicPr>
        <p:blipFill>
          <a:blip r:embed="rId5"/>
          <a:stretch>
            <a:fillRect/>
          </a:stretch>
        </p:blipFill>
        <p:spPr>
          <a:xfrm>
            <a:off x="0" y="0"/>
            <a:ext cx="6705600" cy="6858000"/>
          </a:xfrm>
          <a:prstGeom prst="rect">
            <a:avLst/>
          </a:prstGeom>
        </p:spPr>
      </p:pic>
      <p:pic>
        <p:nvPicPr>
          <p:cNvPr id="6" name="Picture 5" descr="image.png"/>
          <p:cNvPicPr>
            <a:picLocks noChangeAspect="1"/>
          </p:cNvPicPr>
          <p:nvPr/>
        </p:nvPicPr>
        <p:blipFill>
          <a:blip r:embed="rId6"/>
          <a:stretch>
            <a:fillRect/>
          </a:stretch>
        </p:blipFill>
        <p:spPr>
          <a:xfrm>
            <a:off x="6705600" y="0"/>
            <a:ext cx="5486400" cy="6858000"/>
          </a:xfrm>
          <a:prstGeom prst="rect">
            <a:avLst/>
          </a:prstGeom>
        </p:spPr>
      </p:pic>
      <p:pic>
        <p:nvPicPr>
          <p:cNvPr id="7" name="Picture 6" descr="image.png"/>
          <p:cNvPicPr>
            <a:picLocks noChangeAspect="1"/>
          </p:cNvPicPr>
          <p:nvPr/>
        </p:nvPicPr>
        <p:blipFill>
          <a:blip r:embed="rId7"/>
          <a:stretch>
            <a:fillRect/>
          </a:stretch>
        </p:blipFill>
        <p:spPr>
          <a:xfrm>
            <a:off x="571500" y="666750"/>
            <a:ext cx="1628775" cy="190500"/>
          </a:xfrm>
          <a:prstGeom prst="rect">
            <a:avLst/>
          </a:prstGeom>
        </p:spPr>
      </p:pic>
      <p:sp>
        <p:nvSpPr>
          <p:cNvPr id="8" name="TextBox 7"/>
          <p:cNvSpPr txBox="1"/>
          <p:nvPr/>
        </p:nvSpPr>
        <p:spPr>
          <a:xfrm>
            <a:off x="571500" y="2174676"/>
            <a:ext cx="5562600" cy="190500"/>
          </a:xfrm>
          <a:prstGeom prst="rect">
            <a:avLst/>
          </a:prstGeom>
          <a:noFill/>
        </p:spPr>
        <p:txBody>
          <a:bodyPr wrap="square" lIns="0" tIns="0" rIns="0" bIns="0" anchor="t">
            <a:spAutoFit/>
          </a:bodyPr>
          <a:lstStyle/>
          <a:p>
            <a:pPr algn="l"/>
            <a:r>
              <a:rPr sz="1200" b="1" i="0" u="none" dirty="0">
                <a:solidFill>
                  <a:srgbClr val="1E40AF"/>
                </a:solidFill>
                <a:latin typeface="Inter"/>
              </a:rPr>
              <a:t>UNIVERSITY INTERNSHIP REPORT</a:t>
            </a:r>
          </a:p>
        </p:txBody>
      </p:sp>
      <p:sp>
        <p:nvSpPr>
          <p:cNvPr id="9" name="TextBox 8"/>
          <p:cNvSpPr txBox="1"/>
          <p:nvPr/>
        </p:nvSpPr>
        <p:spPr>
          <a:xfrm>
            <a:off x="571500" y="2555676"/>
            <a:ext cx="5840730" cy="1279921"/>
          </a:xfrm>
          <a:prstGeom prst="rect">
            <a:avLst/>
          </a:prstGeom>
          <a:noFill/>
        </p:spPr>
        <p:txBody>
          <a:bodyPr wrap="square" lIns="0" tIns="0" rIns="0" bIns="0" anchor="t">
            <a:spAutoFit/>
          </a:bodyPr>
          <a:lstStyle/>
          <a:p>
            <a:pPr algn="l">
              <a:lnSpc>
                <a:spcPts val="5040"/>
              </a:lnSpc>
            </a:pPr>
            <a:r>
              <a:rPr sz="4200" b="1" i="0" u="none" dirty="0">
                <a:solidFill>
                  <a:srgbClr val="0F172A"/>
                </a:solidFill>
                <a:latin typeface="Space Grotesk"/>
              </a:rPr>
              <a:t>Web Development Internship</a:t>
            </a:r>
          </a:p>
        </p:txBody>
      </p:sp>
      <p:sp>
        <p:nvSpPr>
          <p:cNvPr id="10" name="TextBox 9"/>
          <p:cNvSpPr txBox="1"/>
          <p:nvPr/>
        </p:nvSpPr>
        <p:spPr>
          <a:xfrm>
            <a:off x="571500" y="4026098"/>
            <a:ext cx="5562600" cy="335160"/>
          </a:xfrm>
          <a:prstGeom prst="rect">
            <a:avLst/>
          </a:prstGeom>
          <a:noFill/>
        </p:spPr>
        <p:txBody>
          <a:bodyPr wrap="square" lIns="0" tIns="0" rIns="0" bIns="0" anchor="t">
            <a:spAutoFit/>
          </a:bodyPr>
          <a:lstStyle/>
          <a:p>
            <a:pPr algn="l">
              <a:lnSpc>
                <a:spcPts val="2640"/>
              </a:lnSpc>
            </a:pPr>
            <a:r>
              <a:rPr sz="1650" b="0" i="0" u="none" dirty="0">
                <a:solidFill>
                  <a:srgbClr val="3B82F6"/>
                </a:solidFill>
                <a:latin typeface="Inter SemiBold"/>
              </a:rPr>
              <a:t>Social Media and E-Commerce Platforms</a:t>
            </a:r>
          </a:p>
        </p:txBody>
      </p:sp>
      <p:sp>
        <p:nvSpPr>
          <p:cNvPr id="11" name="TextBox 10"/>
          <p:cNvSpPr txBox="1"/>
          <p:nvPr/>
        </p:nvSpPr>
        <p:spPr>
          <a:xfrm>
            <a:off x="571500" y="5678685"/>
            <a:ext cx="5562600" cy="161925"/>
          </a:xfrm>
          <a:prstGeom prst="rect">
            <a:avLst/>
          </a:prstGeom>
          <a:noFill/>
        </p:spPr>
        <p:txBody>
          <a:bodyPr wrap="square" lIns="0" tIns="0" rIns="0" bIns="0" anchor="t">
            <a:spAutoFit/>
          </a:bodyPr>
          <a:lstStyle/>
          <a:p>
            <a:pPr algn="l"/>
            <a:r>
              <a:rPr sz="1050" b="1" i="0" u="none" dirty="0">
                <a:solidFill>
                  <a:srgbClr val="64748B"/>
                </a:solidFill>
                <a:latin typeface="Inter"/>
              </a:rPr>
              <a:t>INTERNSHIP DURATION</a:t>
            </a:r>
          </a:p>
        </p:txBody>
      </p:sp>
      <p:sp>
        <p:nvSpPr>
          <p:cNvPr id="12" name="TextBox 11"/>
          <p:cNvSpPr txBox="1"/>
          <p:nvPr/>
        </p:nvSpPr>
        <p:spPr>
          <a:xfrm>
            <a:off x="571500" y="5916810"/>
            <a:ext cx="5562600" cy="274290"/>
          </a:xfrm>
          <a:prstGeom prst="rect">
            <a:avLst/>
          </a:prstGeom>
          <a:noFill/>
        </p:spPr>
        <p:txBody>
          <a:bodyPr wrap="square" lIns="0" tIns="0" rIns="0" bIns="0" anchor="t">
            <a:spAutoFit/>
          </a:bodyPr>
          <a:lstStyle/>
          <a:p>
            <a:pPr algn="l">
              <a:lnSpc>
                <a:spcPts val="2160"/>
              </a:lnSpc>
            </a:pPr>
            <a:r>
              <a:rPr sz="1350" b="0" i="0" u="none" dirty="0">
                <a:solidFill>
                  <a:srgbClr val="0F172A"/>
                </a:solidFill>
                <a:latin typeface="Inter SemiBold"/>
              </a:rPr>
              <a:t>June 2026 – August 2026 (8 Weeks)</a:t>
            </a:r>
          </a:p>
        </p:txBody>
      </p:sp>
      <p:sp>
        <p:nvSpPr>
          <p:cNvPr id="13" name="TextBox 12"/>
          <p:cNvSpPr txBox="1"/>
          <p:nvPr/>
        </p:nvSpPr>
        <p:spPr>
          <a:xfrm>
            <a:off x="7277100" y="666750"/>
            <a:ext cx="4343400" cy="161925"/>
          </a:xfrm>
          <a:prstGeom prst="rect">
            <a:avLst/>
          </a:prstGeom>
          <a:noFill/>
        </p:spPr>
        <p:txBody>
          <a:bodyPr wrap="square" lIns="0" tIns="0" rIns="0" bIns="0" anchor="t">
            <a:spAutoFit/>
          </a:bodyPr>
          <a:lstStyle/>
          <a:p>
            <a:pPr algn="l"/>
            <a:r>
              <a:rPr sz="1050" b="1" i="0" u="none" dirty="0">
                <a:solidFill>
                  <a:srgbClr val="60A5FA"/>
                </a:solidFill>
                <a:latin typeface="Inter"/>
              </a:rPr>
              <a:t>STUDENT CREDENTIALS</a:t>
            </a:r>
          </a:p>
        </p:txBody>
      </p:sp>
      <p:sp>
        <p:nvSpPr>
          <p:cNvPr id="14" name="TextBox 13"/>
          <p:cNvSpPr txBox="1"/>
          <p:nvPr/>
        </p:nvSpPr>
        <p:spPr>
          <a:xfrm>
            <a:off x="7658100" y="5101679"/>
            <a:ext cx="3009900" cy="161925"/>
          </a:xfrm>
          <a:prstGeom prst="rect">
            <a:avLst/>
          </a:prstGeom>
          <a:noFill/>
        </p:spPr>
        <p:txBody>
          <a:bodyPr wrap="square" lIns="0" tIns="0" rIns="0" bIns="0" anchor="t">
            <a:spAutoFit/>
          </a:bodyPr>
          <a:lstStyle/>
          <a:p>
            <a:pPr algn="l"/>
            <a:r>
              <a:rPr sz="1050" b="1" i="0" u="none" dirty="0">
                <a:solidFill>
                  <a:srgbClr val="1E3A8A"/>
                </a:solidFill>
                <a:latin typeface="Inter"/>
              </a:rPr>
              <a:t>HOST ORGANIZATION</a:t>
            </a:r>
          </a:p>
        </p:txBody>
      </p:sp>
      <p:sp>
        <p:nvSpPr>
          <p:cNvPr id="15" name="TextBox 14"/>
          <p:cNvSpPr txBox="1"/>
          <p:nvPr/>
        </p:nvSpPr>
        <p:spPr>
          <a:xfrm>
            <a:off x="7658100" y="5339804"/>
            <a:ext cx="3160395" cy="276225"/>
          </a:xfrm>
          <a:prstGeom prst="rect">
            <a:avLst/>
          </a:prstGeom>
          <a:noFill/>
        </p:spPr>
        <p:txBody>
          <a:bodyPr wrap="square" lIns="0" tIns="0" rIns="0" bIns="0" anchor="t">
            <a:spAutoFit/>
          </a:bodyPr>
          <a:lstStyle/>
          <a:p>
            <a:pPr algn="l"/>
            <a:r>
              <a:rPr lang="en-IN" dirty="0">
                <a:solidFill>
                  <a:srgbClr val="FFFFFF"/>
                </a:solidFill>
                <a:latin typeface="Inter SemiBold"/>
              </a:rPr>
              <a:t>Codec Technologies</a:t>
            </a:r>
            <a:endParaRPr sz="1800" b="0" i="0" u="none" dirty="0">
              <a:solidFill>
                <a:srgbClr val="FFFFFF"/>
              </a:solidFill>
              <a:latin typeface="Inter SemiBold"/>
            </a:endParaRPr>
          </a:p>
        </p:txBody>
      </p:sp>
      <p:sp>
        <p:nvSpPr>
          <p:cNvPr id="16" name="TextBox 15"/>
          <p:cNvSpPr txBox="1"/>
          <p:nvPr/>
        </p:nvSpPr>
        <p:spPr>
          <a:xfrm>
            <a:off x="7658100" y="5692229"/>
            <a:ext cx="3009900" cy="213270"/>
          </a:xfrm>
          <a:prstGeom prst="rect">
            <a:avLst/>
          </a:prstGeom>
          <a:noFill/>
        </p:spPr>
        <p:txBody>
          <a:bodyPr wrap="square" lIns="0" tIns="0" rIns="0" bIns="0" anchor="t">
            <a:spAutoFit/>
          </a:bodyPr>
          <a:lstStyle/>
          <a:p>
            <a:pPr algn="l">
              <a:lnSpc>
                <a:spcPts val="1679"/>
              </a:lnSpc>
            </a:pPr>
            <a:r>
              <a:rPr sz="1050" b="0" i="0" u="none" dirty="0">
                <a:solidFill>
                  <a:srgbClr val="EFF6FF"/>
                </a:solidFill>
                <a:latin typeface="Inter"/>
              </a:rPr>
              <a:t>Guided &amp; Deployed Open-Source Frameworks</a:t>
            </a:r>
          </a:p>
        </p:txBody>
      </p:sp>
      <p:sp>
        <p:nvSpPr>
          <p:cNvPr id="17" name="TextBox 16"/>
          <p:cNvSpPr txBox="1"/>
          <p:nvPr/>
        </p:nvSpPr>
        <p:spPr>
          <a:xfrm>
            <a:off x="7667625" y="1409700"/>
            <a:ext cx="3740467" cy="485775"/>
          </a:xfrm>
          <a:prstGeom prst="rect">
            <a:avLst/>
          </a:prstGeom>
          <a:noFill/>
        </p:spPr>
        <p:txBody>
          <a:bodyPr wrap="square" lIns="0" tIns="0" rIns="0" bIns="0" anchor="t">
            <a:spAutoFit/>
          </a:bodyPr>
          <a:lstStyle/>
          <a:p>
            <a:pPr algn="l"/>
            <a:r>
              <a:rPr sz="3000" b="1" i="0" u="none" dirty="0">
                <a:solidFill>
                  <a:srgbClr val="FFFFFF"/>
                </a:solidFill>
                <a:latin typeface="Space Grotesk"/>
              </a:rPr>
              <a:t>Abir Ekansh</a:t>
            </a:r>
          </a:p>
        </p:txBody>
      </p:sp>
      <p:sp>
        <p:nvSpPr>
          <p:cNvPr id="18" name="TextBox 17"/>
          <p:cNvSpPr txBox="1"/>
          <p:nvPr/>
        </p:nvSpPr>
        <p:spPr>
          <a:xfrm>
            <a:off x="7667625" y="2181225"/>
            <a:ext cx="1638300" cy="609600"/>
          </a:xfrm>
          <a:prstGeom prst="rect">
            <a:avLst/>
          </a:prstGeom>
          <a:noFill/>
        </p:spPr>
        <p:txBody>
          <a:bodyPr wrap="square" lIns="0" tIns="0" rIns="0" bIns="0" anchor="t">
            <a:spAutoFit/>
          </a:bodyPr>
          <a:lstStyle/>
          <a:p>
            <a:pPr algn="l"/>
            <a:r>
              <a:rPr sz="1200" b="0" i="0" u="none" dirty="0">
                <a:solidFill>
                  <a:srgbClr val="94A3B8"/>
                </a:solidFill>
                <a:latin typeface="Inter"/>
              </a:rPr>
              <a:t>Enrollment / Roll No.</a:t>
            </a:r>
            <a:r>
              <a:rPr sz="1200" b="0" i="0" u="none" dirty="0">
                <a:solidFill>
                  <a:srgbClr val="000000"/>
                </a:solidFill>
                <a:latin typeface="Inter"/>
              </a:rPr>
              <a:t> </a:t>
            </a:r>
            <a:r>
              <a:rPr sz="1200" b="0" i="0" u="none" dirty="0">
                <a:solidFill>
                  <a:srgbClr val="F8FAFC"/>
                </a:solidFill>
                <a:latin typeface="Inter Medium"/>
              </a:rPr>
              <a:t>25SCS1003005283</a:t>
            </a:r>
          </a:p>
        </p:txBody>
      </p:sp>
      <p:sp>
        <p:nvSpPr>
          <p:cNvPr id="19" name="TextBox 18"/>
          <p:cNvSpPr txBox="1"/>
          <p:nvPr/>
        </p:nvSpPr>
        <p:spPr>
          <a:xfrm>
            <a:off x="9591675" y="2181225"/>
            <a:ext cx="1638300" cy="609600"/>
          </a:xfrm>
          <a:prstGeom prst="rect">
            <a:avLst/>
          </a:prstGeom>
          <a:noFill/>
        </p:spPr>
        <p:txBody>
          <a:bodyPr wrap="square" lIns="0" tIns="0" rIns="0" bIns="0" anchor="t">
            <a:spAutoFit/>
          </a:bodyPr>
          <a:lstStyle/>
          <a:p>
            <a:pPr algn="l"/>
            <a:r>
              <a:rPr sz="1200" b="0" i="0" u="none" dirty="0">
                <a:solidFill>
                  <a:srgbClr val="94A3B8"/>
                </a:solidFill>
                <a:latin typeface="Inter"/>
              </a:rPr>
              <a:t>Section &amp; Program</a:t>
            </a:r>
            <a:r>
              <a:rPr sz="1200" b="0" i="0" u="none" dirty="0">
                <a:solidFill>
                  <a:srgbClr val="000000"/>
                </a:solidFill>
                <a:latin typeface="Inter"/>
              </a:rPr>
              <a:t> </a:t>
            </a:r>
            <a:r>
              <a:rPr sz="1200" b="0" i="0" u="none" dirty="0">
                <a:solidFill>
                  <a:srgbClr val="F8FAFC"/>
                </a:solidFill>
                <a:latin typeface="Inter Medium"/>
              </a:rPr>
              <a:t>2CSE31 | </a:t>
            </a:r>
            <a:r>
              <a:rPr sz="1200" b="0" i="0" u="none" dirty="0" err="1">
                <a:solidFill>
                  <a:srgbClr val="F8FAFC"/>
                </a:solidFill>
                <a:latin typeface="Inter Medium"/>
              </a:rPr>
              <a:t>B.Tech</a:t>
            </a:r>
            <a:r>
              <a:rPr sz="1200" b="0" i="0" u="none" dirty="0">
                <a:solidFill>
                  <a:srgbClr val="F8FAFC"/>
                </a:solidFill>
                <a:latin typeface="Inter Medium"/>
              </a:rPr>
              <a:t> (CSE)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1947862"/>
            <a:ext cx="5238750" cy="4000500"/>
          </a:xfrm>
          <a:prstGeom prst="rect">
            <a:avLst/>
          </a:prstGeom>
        </p:spPr>
      </p:pic>
      <p:sp>
        <p:nvSpPr>
          <p:cNvPr id="4" name="TextBox 3"/>
          <p:cNvSpPr txBox="1"/>
          <p:nvPr/>
        </p:nvSpPr>
        <p:spPr>
          <a:xfrm>
            <a:off x="762000" y="2123479"/>
            <a:ext cx="5048250" cy="289470"/>
          </a:xfrm>
          <a:prstGeom prst="rect">
            <a:avLst/>
          </a:prstGeom>
          <a:noFill/>
        </p:spPr>
        <p:txBody>
          <a:bodyPr wrap="square" lIns="0" tIns="0" rIns="0" bIns="0" anchor="t">
            <a:spAutoFit/>
          </a:bodyPr>
          <a:lstStyle/>
          <a:p>
            <a:pPr algn="l">
              <a:lnSpc>
                <a:spcPts val="2279"/>
              </a:lnSpc>
            </a:pPr>
            <a:r>
              <a:rPr sz="1425" b="1" i="0" u="none">
                <a:solidFill>
                  <a:srgbClr val="334155"/>
                </a:solidFill>
                <a:latin typeface="Inter"/>
              </a:rPr>
              <a:t>Student Name:</a:t>
            </a:r>
            <a:r>
              <a:rPr sz="1425" b="0" i="0" u="none">
                <a:solidFill>
                  <a:srgbClr val="334155"/>
                </a:solidFill>
                <a:latin typeface="Inter"/>
              </a:rPr>
              <a:t> Abir Ekansh</a:t>
            </a:r>
          </a:p>
        </p:txBody>
      </p:sp>
      <p:sp>
        <p:nvSpPr>
          <p:cNvPr id="5" name="TextBox 4"/>
          <p:cNvSpPr txBox="1"/>
          <p:nvPr/>
        </p:nvSpPr>
        <p:spPr>
          <a:xfrm>
            <a:off x="762000" y="2603450"/>
            <a:ext cx="5048250" cy="289470"/>
          </a:xfrm>
          <a:prstGeom prst="rect">
            <a:avLst/>
          </a:prstGeom>
          <a:noFill/>
        </p:spPr>
        <p:txBody>
          <a:bodyPr wrap="square" lIns="0" tIns="0" rIns="0" bIns="0" anchor="t">
            <a:spAutoFit/>
          </a:bodyPr>
          <a:lstStyle/>
          <a:p>
            <a:pPr algn="l">
              <a:lnSpc>
                <a:spcPts val="2279"/>
              </a:lnSpc>
            </a:pPr>
            <a:r>
              <a:rPr sz="1425" b="1" i="0" u="none">
                <a:solidFill>
                  <a:srgbClr val="334155"/>
                </a:solidFill>
                <a:latin typeface="Inter"/>
              </a:rPr>
              <a:t>Roll Number:</a:t>
            </a:r>
            <a:r>
              <a:rPr sz="1425" b="0" i="0" u="none">
                <a:solidFill>
                  <a:srgbClr val="334155"/>
                </a:solidFill>
                <a:latin typeface="Inter"/>
              </a:rPr>
              <a:t> 25SCS1003005283</a:t>
            </a:r>
          </a:p>
        </p:txBody>
      </p:sp>
      <p:sp>
        <p:nvSpPr>
          <p:cNvPr id="6" name="TextBox 5"/>
          <p:cNvSpPr txBox="1"/>
          <p:nvPr/>
        </p:nvSpPr>
        <p:spPr>
          <a:xfrm>
            <a:off x="762000" y="3083421"/>
            <a:ext cx="5048250" cy="289470"/>
          </a:xfrm>
          <a:prstGeom prst="rect">
            <a:avLst/>
          </a:prstGeom>
          <a:noFill/>
        </p:spPr>
        <p:txBody>
          <a:bodyPr wrap="square" lIns="0" tIns="0" rIns="0" bIns="0" anchor="t">
            <a:spAutoFit/>
          </a:bodyPr>
          <a:lstStyle/>
          <a:p>
            <a:pPr algn="l">
              <a:lnSpc>
                <a:spcPts val="2279"/>
              </a:lnSpc>
            </a:pPr>
            <a:r>
              <a:rPr sz="1425" b="1" i="0" u="none">
                <a:solidFill>
                  <a:srgbClr val="334155"/>
                </a:solidFill>
                <a:latin typeface="Inter"/>
              </a:rPr>
              <a:t>Section:</a:t>
            </a:r>
            <a:r>
              <a:rPr sz="1425" b="0" i="0" u="none">
                <a:solidFill>
                  <a:srgbClr val="334155"/>
                </a:solidFill>
                <a:latin typeface="Inter"/>
              </a:rPr>
              <a:t> 2CSE31</a:t>
            </a:r>
          </a:p>
        </p:txBody>
      </p:sp>
      <p:sp>
        <p:nvSpPr>
          <p:cNvPr id="7" name="TextBox 6"/>
          <p:cNvSpPr txBox="1"/>
          <p:nvPr/>
        </p:nvSpPr>
        <p:spPr>
          <a:xfrm>
            <a:off x="762000" y="3563391"/>
            <a:ext cx="5048250" cy="289470"/>
          </a:xfrm>
          <a:prstGeom prst="rect">
            <a:avLst/>
          </a:prstGeom>
          <a:noFill/>
        </p:spPr>
        <p:txBody>
          <a:bodyPr wrap="square" lIns="0" tIns="0" rIns="0" bIns="0" anchor="t">
            <a:spAutoFit/>
          </a:bodyPr>
          <a:lstStyle/>
          <a:p>
            <a:pPr algn="l">
              <a:lnSpc>
                <a:spcPts val="2279"/>
              </a:lnSpc>
            </a:pPr>
            <a:r>
              <a:rPr sz="1425" b="1" i="0" u="none">
                <a:solidFill>
                  <a:srgbClr val="334155"/>
                </a:solidFill>
                <a:latin typeface="Inter"/>
              </a:rPr>
              <a:t>Degree:</a:t>
            </a:r>
            <a:r>
              <a:rPr sz="1425" b="0" i="0" u="none">
                <a:solidFill>
                  <a:srgbClr val="334155"/>
                </a:solidFill>
                <a:latin typeface="Inter"/>
              </a:rPr>
              <a:t> B.Tech (Computer Science &amp; Engineering)</a:t>
            </a:r>
          </a:p>
        </p:txBody>
      </p:sp>
      <p:sp>
        <p:nvSpPr>
          <p:cNvPr id="8" name="TextBox 7"/>
          <p:cNvSpPr txBox="1"/>
          <p:nvPr/>
        </p:nvSpPr>
        <p:spPr>
          <a:xfrm>
            <a:off x="762000" y="4043362"/>
            <a:ext cx="5048250" cy="289470"/>
          </a:xfrm>
          <a:prstGeom prst="rect">
            <a:avLst/>
          </a:prstGeom>
          <a:noFill/>
        </p:spPr>
        <p:txBody>
          <a:bodyPr wrap="square" lIns="0" tIns="0" rIns="0" bIns="0" anchor="t">
            <a:spAutoFit/>
          </a:bodyPr>
          <a:lstStyle/>
          <a:p>
            <a:pPr algn="l">
              <a:lnSpc>
                <a:spcPts val="2279"/>
              </a:lnSpc>
            </a:pPr>
            <a:r>
              <a:rPr sz="1425" b="1" i="0" u="none">
                <a:solidFill>
                  <a:srgbClr val="334155"/>
                </a:solidFill>
                <a:latin typeface="Inter"/>
              </a:rPr>
              <a:t>University:</a:t>
            </a:r>
            <a:r>
              <a:rPr sz="1425" b="0" i="0" u="none">
                <a:solidFill>
                  <a:srgbClr val="334155"/>
                </a:solidFill>
                <a:latin typeface="Inter"/>
              </a:rPr>
              <a:t> IILM University, Greater Noida, U.P.</a:t>
            </a:r>
          </a:p>
        </p:txBody>
      </p:sp>
      <p:sp>
        <p:nvSpPr>
          <p:cNvPr id="9" name="TextBox 8"/>
          <p:cNvSpPr txBox="1"/>
          <p:nvPr/>
        </p:nvSpPr>
        <p:spPr>
          <a:xfrm>
            <a:off x="762000" y="4523333"/>
            <a:ext cx="5048250" cy="289470"/>
          </a:xfrm>
          <a:prstGeom prst="rect">
            <a:avLst/>
          </a:prstGeom>
          <a:noFill/>
        </p:spPr>
        <p:txBody>
          <a:bodyPr wrap="square" lIns="0" tIns="0" rIns="0" bIns="0" anchor="t">
            <a:spAutoFit/>
          </a:bodyPr>
          <a:lstStyle/>
          <a:p>
            <a:pPr algn="l">
              <a:lnSpc>
                <a:spcPts val="2279"/>
              </a:lnSpc>
            </a:pPr>
            <a:r>
              <a:rPr sz="1425" b="1" i="0" u="none">
                <a:solidFill>
                  <a:srgbClr val="334155"/>
                </a:solidFill>
                <a:latin typeface="Inter"/>
              </a:rPr>
              <a:t>Primary Focus:</a:t>
            </a:r>
            <a:r>
              <a:rPr sz="1425" b="0" i="0" u="none">
                <a:solidFill>
                  <a:srgbClr val="334155"/>
                </a:solidFill>
                <a:latin typeface="Inter"/>
              </a:rPr>
              <a:t> Full-Stack Web Development</a:t>
            </a:r>
          </a:p>
        </p:txBody>
      </p:sp>
      <p:sp>
        <p:nvSpPr>
          <p:cNvPr id="10" name="TextBox 9"/>
          <p:cNvSpPr txBox="1"/>
          <p:nvPr/>
        </p:nvSpPr>
        <p:spPr>
          <a:xfrm>
            <a:off x="762000" y="5003303"/>
            <a:ext cx="5048250" cy="578941"/>
          </a:xfrm>
          <a:prstGeom prst="rect">
            <a:avLst/>
          </a:prstGeom>
          <a:noFill/>
        </p:spPr>
        <p:txBody>
          <a:bodyPr wrap="square" lIns="0" tIns="0" rIns="0" bIns="0" anchor="t">
            <a:spAutoFit/>
          </a:bodyPr>
          <a:lstStyle/>
          <a:p>
            <a:pPr algn="l">
              <a:lnSpc>
                <a:spcPts val="2279"/>
              </a:lnSpc>
            </a:pPr>
            <a:r>
              <a:rPr sz="1425" b="1" i="0" u="none">
                <a:solidFill>
                  <a:srgbClr val="334155"/>
                </a:solidFill>
                <a:latin typeface="Inter"/>
              </a:rPr>
              <a:t>Core Deliverables:</a:t>
            </a:r>
            <a:r>
              <a:rPr sz="1425" b="0" i="0" u="none">
                <a:solidFill>
                  <a:srgbClr val="334155"/>
                </a:solidFill>
                <a:latin typeface="Inter"/>
              </a:rPr>
              <a:t> Social Media App &amp; E-Commerce Platform</a:t>
            </a:r>
          </a:p>
        </p:txBody>
      </p:sp>
      <p:pic>
        <p:nvPicPr>
          <p:cNvPr id="11" name="Picture 10" descr="image.png"/>
          <p:cNvPicPr>
            <a:picLocks noChangeAspect="1"/>
          </p:cNvPicPr>
          <p:nvPr/>
        </p:nvPicPr>
        <p:blipFill>
          <a:blip r:embed="rId4"/>
          <a:stretch>
            <a:fillRect/>
          </a:stretch>
        </p:blipFill>
        <p:spPr>
          <a:xfrm>
            <a:off x="6419850" y="1985962"/>
            <a:ext cx="5162550" cy="3924300"/>
          </a:xfrm>
          <a:prstGeom prst="rect">
            <a:avLst/>
          </a:prstGeom>
        </p:spPr>
      </p:pic>
      <p:sp>
        <p:nvSpPr>
          <p:cNvPr id="12" name="TextBox 11"/>
          <p:cNvSpPr txBox="1"/>
          <p:nvPr/>
        </p:nvSpPr>
        <p:spPr>
          <a:xfrm>
            <a:off x="571500" y="2180629"/>
            <a:ext cx="66675" cy="180975"/>
          </a:xfrm>
          <a:prstGeom prst="rect">
            <a:avLst/>
          </a:prstGeom>
          <a:noFill/>
        </p:spPr>
        <p:txBody>
          <a:bodyPr wrap="square" lIns="0" tIns="0" rIns="0" bIns="0" anchor="t">
            <a:spAutoFit/>
          </a:bodyPr>
          <a:lstStyle/>
          <a:p>
            <a:pPr algn="l">
              <a:lnSpc>
                <a:spcPts val="1439"/>
              </a:lnSpc>
            </a:pPr>
            <a:r>
              <a:rPr sz="900" b="0" i="0" u="none">
                <a:solidFill>
                  <a:srgbClr val="3B82F6"/>
                </a:solidFill>
                <a:latin typeface="Inter"/>
              </a:rPr>
              <a:t>■</a:t>
            </a:r>
          </a:p>
        </p:txBody>
      </p:sp>
      <p:sp>
        <p:nvSpPr>
          <p:cNvPr id="13" name="TextBox 12"/>
          <p:cNvSpPr txBox="1"/>
          <p:nvPr/>
        </p:nvSpPr>
        <p:spPr>
          <a:xfrm>
            <a:off x="571500" y="2660600"/>
            <a:ext cx="66675" cy="180975"/>
          </a:xfrm>
          <a:prstGeom prst="rect">
            <a:avLst/>
          </a:prstGeom>
          <a:noFill/>
        </p:spPr>
        <p:txBody>
          <a:bodyPr wrap="square" lIns="0" tIns="0" rIns="0" bIns="0" anchor="t">
            <a:spAutoFit/>
          </a:bodyPr>
          <a:lstStyle/>
          <a:p>
            <a:pPr algn="l">
              <a:lnSpc>
                <a:spcPts val="1439"/>
              </a:lnSpc>
            </a:pPr>
            <a:r>
              <a:rPr sz="900" b="0" i="0" u="none">
                <a:solidFill>
                  <a:srgbClr val="3B82F6"/>
                </a:solidFill>
                <a:latin typeface="Inter"/>
              </a:rPr>
              <a:t>■</a:t>
            </a:r>
          </a:p>
        </p:txBody>
      </p:sp>
      <p:sp>
        <p:nvSpPr>
          <p:cNvPr id="14" name="TextBox 13"/>
          <p:cNvSpPr txBox="1"/>
          <p:nvPr/>
        </p:nvSpPr>
        <p:spPr>
          <a:xfrm>
            <a:off x="571500" y="3140571"/>
            <a:ext cx="66675" cy="180975"/>
          </a:xfrm>
          <a:prstGeom prst="rect">
            <a:avLst/>
          </a:prstGeom>
          <a:noFill/>
        </p:spPr>
        <p:txBody>
          <a:bodyPr wrap="square" lIns="0" tIns="0" rIns="0" bIns="0" anchor="t">
            <a:spAutoFit/>
          </a:bodyPr>
          <a:lstStyle/>
          <a:p>
            <a:pPr algn="l">
              <a:lnSpc>
                <a:spcPts val="1439"/>
              </a:lnSpc>
            </a:pPr>
            <a:r>
              <a:rPr sz="900" b="0" i="0" u="none">
                <a:solidFill>
                  <a:srgbClr val="3B82F6"/>
                </a:solidFill>
                <a:latin typeface="Inter"/>
              </a:rPr>
              <a:t>■</a:t>
            </a:r>
          </a:p>
        </p:txBody>
      </p:sp>
      <p:sp>
        <p:nvSpPr>
          <p:cNvPr id="15" name="TextBox 14"/>
          <p:cNvSpPr txBox="1"/>
          <p:nvPr/>
        </p:nvSpPr>
        <p:spPr>
          <a:xfrm>
            <a:off x="571500" y="3620541"/>
            <a:ext cx="66675" cy="180975"/>
          </a:xfrm>
          <a:prstGeom prst="rect">
            <a:avLst/>
          </a:prstGeom>
          <a:noFill/>
        </p:spPr>
        <p:txBody>
          <a:bodyPr wrap="square" lIns="0" tIns="0" rIns="0" bIns="0" anchor="t">
            <a:spAutoFit/>
          </a:bodyPr>
          <a:lstStyle/>
          <a:p>
            <a:pPr algn="l">
              <a:lnSpc>
                <a:spcPts val="1439"/>
              </a:lnSpc>
            </a:pPr>
            <a:r>
              <a:rPr sz="900" b="0" i="0" u="none">
                <a:solidFill>
                  <a:srgbClr val="3B82F6"/>
                </a:solidFill>
                <a:latin typeface="Inter"/>
              </a:rPr>
              <a:t>■</a:t>
            </a:r>
          </a:p>
        </p:txBody>
      </p:sp>
      <p:sp>
        <p:nvSpPr>
          <p:cNvPr id="16" name="TextBox 15"/>
          <p:cNvSpPr txBox="1"/>
          <p:nvPr/>
        </p:nvSpPr>
        <p:spPr>
          <a:xfrm>
            <a:off x="571500" y="4100512"/>
            <a:ext cx="66675" cy="180975"/>
          </a:xfrm>
          <a:prstGeom prst="rect">
            <a:avLst/>
          </a:prstGeom>
          <a:noFill/>
        </p:spPr>
        <p:txBody>
          <a:bodyPr wrap="square" lIns="0" tIns="0" rIns="0" bIns="0" anchor="t">
            <a:spAutoFit/>
          </a:bodyPr>
          <a:lstStyle/>
          <a:p>
            <a:pPr algn="l">
              <a:lnSpc>
                <a:spcPts val="1439"/>
              </a:lnSpc>
            </a:pPr>
            <a:r>
              <a:rPr sz="900" b="0" i="0" u="none">
                <a:solidFill>
                  <a:srgbClr val="3B82F6"/>
                </a:solidFill>
                <a:latin typeface="Inter"/>
              </a:rPr>
              <a:t>■</a:t>
            </a:r>
          </a:p>
        </p:txBody>
      </p:sp>
      <p:sp>
        <p:nvSpPr>
          <p:cNvPr id="17" name="TextBox 16"/>
          <p:cNvSpPr txBox="1"/>
          <p:nvPr/>
        </p:nvSpPr>
        <p:spPr>
          <a:xfrm>
            <a:off x="571500" y="4580483"/>
            <a:ext cx="66675" cy="180975"/>
          </a:xfrm>
          <a:prstGeom prst="rect">
            <a:avLst/>
          </a:prstGeom>
          <a:noFill/>
        </p:spPr>
        <p:txBody>
          <a:bodyPr wrap="square" lIns="0" tIns="0" rIns="0" bIns="0" anchor="t">
            <a:spAutoFit/>
          </a:bodyPr>
          <a:lstStyle/>
          <a:p>
            <a:pPr algn="l">
              <a:lnSpc>
                <a:spcPts val="1439"/>
              </a:lnSpc>
            </a:pPr>
            <a:r>
              <a:rPr sz="900" b="0" i="0" u="none">
                <a:solidFill>
                  <a:srgbClr val="3B82F6"/>
                </a:solidFill>
                <a:latin typeface="Inter"/>
              </a:rPr>
              <a:t>■</a:t>
            </a:r>
          </a:p>
        </p:txBody>
      </p:sp>
      <p:sp>
        <p:nvSpPr>
          <p:cNvPr id="18" name="TextBox 17"/>
          <p:cNvSpPr txBox="1"/>
          <p:nvPr/>
        </p:nvSpPr>
        <p:spPr>
          <a:xfrm>
            <a:off x="571500" y="5060453"/>
            <a:ext cx="66675" cy="180975"/>
          </a:xfrm>
          <a:prstGeom prst="rect">
            <a:avLst/>
          </a:prstGeom>
          <a:noFill/>
        </p:spPr>
        <p:txBody>
          <a:bodyPr wrap="square" lIns="0" tIns="0" rIns="0" bIns="0" anchor="t">
            <a:spAutoFit/>
          </a:bodyPr>
          <a:lstStyle/>
          <a:p>
            <a:pPr algn="l">
              <a:lnSpc>
                <a:spcPts val="1439"/>
              </a:lnSpc>
            </a:pPr>
            <a:r>
              <a:rPr sz="900" b="0" i="0" u="none">
                <a:solidFill>
                  <a:srgbClr val="3B82F6"/>
                </a:solidFill>
                <a:latin typeface="Inter"/>
              </a:rPr>
              <a:t>■</a:t>
            </a:r>
          </a:p>
        </p:txBody>
      </p:sp>
      <p:sp>
        <p:nvSpPr>
          <p:cNvPr id="19" name="TextBox 18"/>
          <p:cNvSpPr txBox="1"/>
          <p:nvPr/>
        </p:nvSpPr>
        <p:spPr>
          <a:xfrm>
            <a:off x="571500" y="571500"/>
            <a:ext cx="11601450" cy="514350"/>
          </a:xfrm>
          <a:prstGeom prst="rect">
            <a:avLst/>
          </a:prstGeom>
          <a:noFill/>
        </p:spPr>
        <p:txBody>
          <a:bodyPr wrap="square" lIns="0" tIns="0" rIns="0" bIns="0" anchor="t">
            <a:spAutoFit/>
          </a:bodyPr>
          <a:lstStyle/>
          <a:p>
            <a:pPr algn="l"/>
            <a:r>
              <a:rPr sz="3000" b="1" i="0" u="none">
                <a:solidFill>
                  <a:srgbClr val="1E3A8A"/>
                </a:solidFill>
                <a:latin typeface="Space Grotesk"/>
              </a:rPr>
              <a:t>Candidate &amp; Program Overview</a:t>
            </a:r>
          </a:p>
        </p:txBody>
      </p:sp>
      <p:sp>
        <p:nvSpPr>
          <p:cNvPr id="20" name="Rectangle 19"/>
          <p:cNvSpPr/>
          <p:nvPr/>
        </p:nvSpPr>
        <p:spPr>
          <a:xfrm>
            <a:off x="571500" y="1200150"/>
            <a:ext cx="11049000" cy="28575"/>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746200"/>
            <a:ext cx="3492549" cy="4403824"/>
          </a:xfrm>
          <a:prstGeom prst="rect">
            <a:avLst/>
          </a:prstGeom>
        </p:spPr>
      </p:pic>
      <p:pic>
        <p:nvPicPr>
          <p:cNvPr id="4" name="Picture 3" descr="image.png"/>
          <p:cNvPicPr>
            <a:picLocks noChangeAspect="1"/>
          </p:cNvPicPr>
          <p:nvPr/>
        </p:nvPicPr>
        <p:blipFill>
          <a:blip r:embed="rId4"/>
          <a:stretch>
            <a:fillRect/>
          </a:stretch>
        </p:blipFill>
        <p:spPr>
          <a:xfrm>
            <a:off x="4349799" y="1746200"/>
            <a:ext cx="3492549" cy="4403824"/>
          </a:xfrm>
          <a:prstGeom prst="rect">
            <a:avLst/>
          </a:prstGeom>
        </p:spPr>
      </p:pic>
      <p:pic>
        <p:nvPicPr>
          <p:cNvPr id="5" name="Picture 4" descr="image.png"/>
          <p:cNvPicPr>
            <a:picLocks noChangeAspect="1"/>
          </p:cNvPicPr>
          <p:nvPr/>
        </p:nvPicPr>
        <p:blipFill>
          <a:blip r:embed="rId5"/>
          <a:stretch>
            <a:fillRect/>
          </a:stretch>
        </p:blipFill>
        <p:spPr>
          <a:xfrm>
            <a:off x="8128099" y="1746200"/>
            <a:ext cx="3492549" cy="4403824"/>
          </a:xfrm>
          <a:prstGeom prst="rect">
            <a:avLst/>
          </a:prstGeom>
        </p:spPr>
      </p:pic>
      <p:pic>
        <p:nvPicPr>
          <p:cNvPr id="6" name="Picture 5" descr="image.png"/>
          <p:cNvPicPr>
            <a:picLocks noChangeAspect="1"/>
          </p:cNvPicPr>
          <p:nvPr/>
        </p:nvPicPr>
        <p:blipFill>
          <a:blip r:embed="rId6"/>
          <a:stretch>
            <a:fillRect/>
          </a:stretch>
        </p:blipFill>
        <p:spPr>
          <a:xfrm>
            <a:off x="962025" y="2136725"/>
            <a:ext cx="714375" cy="714375"/>
          </a:xfrm>
          <a:prstGeom prst="rect">
            <a:avLst/>
          </a:prstGeom>
        </p:spPr>
      </p:pic>
      <p:sp>
        <p:nvSpPr>
          <p:cNvPr id="7" name="TextBox 6"/>
          <p:cNvSpPr txBox="1"/>
          <p:nvPr/>
        </p:nvSpPr>
        <p:spPr>
          <a:xfrm>
            <a:off x="962025" y="3089225"/>
            <a:ext cx="2847074" cy="647700"/>
          </a:xfrm>
          <a:prstGeom prst="rect">
            <a:avLst/>
          </a:prstGeom>
          <a:noFill/>
        </p:spPr>
        <p:txBody>
          <a:bodyPr wrap="square" lIns="0" tIns="0" rIns="0" bIns="0" anchor="t">
            <a:spAutoFit/>
          </a:bodyPr>
          <a:lstStyle/>
          <a:p>
            <a:pPr algn="l"/>
            <a:r>
              <a:rPr sz="1950" b="0" i="0" u="none">
                <a:solidFill>
                  <a:srgbClr val="1E40AF"/>
                </a:solidFill>
                <a:latin typeface="Space Grotesk SemiBold"/>
              </a:rPr>
              <a:t>Fragmented Engagement</a:t>
            </a:r>
          </a:p>
        </p:txBody>
      </p:sp>
      <p:sp>
        <p:nvSpPr>
          <p:cNvPr id="8" name="TextBox 7"/>
          <p:cNvSpPr txBox="1"/>
          <p:nvPr/>
        </p:nvSpPr>
        <p:spPr>
          <a:xfrm>
            <a:off x="962025" y="3879800"/>
            <a:ext cx="2711499" cy="1736824"/>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In the digital age, users require seamless, high-performance platforms to communicate and share media without relying on bloated, generalized legacy solutions.</a:t>
            </a:r>
          </a:p>
        </p:txBody>
      </p:sp>
      <p:pic>
        <p:nvPicPr>
          <p:cNvPr id="9" name="Picture 8" descr="image.png"/>
          <p:cNvPicPr>
            <a:picLocks noChangeAspect="1"/>
          </p:cNvPicPr>
          <p:nvPr/>
        </p:nvPicPr>
        <p:blipFill>
          <a:blip r:embed="rId7"/>
          <a:stretch>
            <a:fillRect/>
          </a:stretch>
        </p:blipFill>
        <p:spPr>
          <a:xfrm>
            <a:off x="4740324" y="2136725"/>
            <a:ext cx="714375" cy="714375"/>
          </a:xfrm>
          <a:prstGeom prst="rect">
            <a:avLst/>
          </a:prstGeom>
        </p:spPr>
      </p:pic>
      <p:sp>
        <p:nvSpPr>
          <p:cNvPr id="10" name="TextBox 9"/>
          <p:cNvSpPr txBox="1"/>
          <p:nvPr/>
        </p:nvSpPr>
        <p:spPr>
          <a:xfrm>
            <a:off x="4740324" y="3089225"/>
            <a:ext cx="2351231"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Retail Inefficiencies</a:t>
            </a:r>
          </a:p>
        </p:txBody>
      </p:sp>
      <p:sp>
        <p:nvSpPr>
          <p:cNvPr id="11" name="TextBox 10"/>
          <p:cNvSpPr txBox="1"/>
          <p:nvPr/>
        </p:nvSpPr>
        <p:spPr>
          <a:xfrm>
            <a:off x="4740324" y="3555950"/>
            <a:ext cx="2711499" cy="2026294"/>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Existing e-commerce frameworks are often overly complex to scale. There is a strong need for streamlined online shopping, optimized cart states, and secure checkout experiences.</a:t>
            </a:r>
          </a:p>
        </p:txBody>
      </p:sp>
      <p:pic>
        <p:nvPicPr>
          <p:cNvPr id="12" name="Picture 11" descr="image.png"/>
          <p:cNvPicPr>
            <a:picLocks noChangeAspect="1"/>
          </p:cNvPicPr>
          <p:nvPr/>
        </p:nvPicPr>
        <p:blipFill>
          <a:blip r:embed="rId8"/>
          <a:stretch>
            <a:fillRect/>
          </a:stretch>
        </p:blipFill>
        <p:spPr>
          <a:xfrm>
            <a:off x="8518624" y="2136725"/>
            <a:ext cx="714375" cy="714375"/>
          </a:xfrm>
          <a:prstGeom prst="rect">
            <a:avLst/>
          </a:prstGeom>
        </p:spPr>
      </p:pic>
      <p:sp>
        <p:nvSpPr>
          <p:cNvPr id="13" name="TextBox 12"/>
          <p:cNvSpPr txBox="1"/>
          <p:nvPr/>
        </p:nvSpPr>
        <p:spPr>
          <a:xfrm>
            <a:off x="8518624" y="3089225"/>
            <a:ext cx="2566414"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Secure Architectures</a:t>
            </a:r>
          </a:p>
        </p:txBody>
      </p:sp>
      <p:sp>
        <p:nvSpPr>
          <p:cNvPr id="14" name="TextBox 13"/>
          <p:cNvSpPr txBox="1"/>
          <p:nvPr/>
        </p:nvSpPr>
        <p:spPr>
          <a:xfrm>
            <a:off x="8518624" y="3555950"/>
            <a:ext cx="2711499" cy="2026294"/>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The primary engineering challenge lies in architecting systems from scratch that handle robust user authentication, real-time data flow, and secure state management flawlessly.</a:t>
            </a:r>
          </a:p>
        </p:txBody>
      </p:sp>
      <p:pic>
        <p:nvPicPr>
          <p:cNvPr id="15" name="Picture 14" descr="image.png"/>
          <p:cNvPicPr>
            <a:picLocks noChangeAspect="1"/>
          </p:cNvPicPr>
          <p:nvPr/>
        </p:nvPicPr>
        <p:blipFill>
          <a:blip r:embed="rId9"/>
          <a:stretch>
            <a:fillRect/>
          </a:stretch>
        </p:blipFill>
        <p:spPr>
          <a:xfrm>
            <a:off x="1081087" y="2303412"/>
            <a:ext cx="476250" cy="381000"/>
          </a:xfrm>
          <a:prstGeom prst="rect">
            <a:avLst/>
          </a:prstGeom>
        </p:spPr>
      </p:pic>
      <p:pic>
        <p:nvPicPr>
          <p:cNvPr id="16" name="Picture 15" descr="image.png"/>
          <p:cNvPicPr>
            <a:picLocks noChangeAspect="1"/>
          </p:cNvPicPr>
          <p:nvPr/>
        </p:nvPicPr>
        <p:blipFill>
          <a:blip r:embed="rId10"/>
          <a:stretch>
            <a:fillRect/>
          </a:stretch>
        </p:blipFill>
        <p:spPr>
          <a:xfrm>
            <a:off x="4883199" y="2303412"/>
            <a:ext cx="428625" cy="381000"/>
          </a:xfrm>
          <a:prstGeom prst="rect">
            <a:avLst/>
          </a:prstGeom>
        </p:spPr>
      </p:pic>
      <p:pic>
        <p:nvPicPr>
          <p:cNvPr id="17" name="Picture 16" descr="image.png"/>
          <p:cNvPicPr>
            <a:picLocks noChangeAspect="1"/>
          </p:cNvPicPr>
          <p:nvPr/>
        </p:nvPicPr>
        <p:blipFill>
          <a:blip r:embed="rId11"/>
          <a:stretch>
            <a:fillRect/>
          </a:stretch>
        </p:blipFill>
        <p:spPr>
          <a:xfrm>
            <a:off x="8685311" y="2303412"/>
            <a:ext cx="381000" cy="381000"/>
          </a:xfrm>
          <a:prstGeom prst="rect">
            <a:avLst/>
          </a:prstGeom>
        </p:spPr>
      </p:pic>
      <p:sp>
        <p:nvSpPr>
          <p:cNvPr id="18" name="TextBox 17"/>
          <p:cNvSpPr txBox="1"/>
          <p:nvPr/>
        </p:nvSpPr>
        <p:spPr>
          <a:xfrm>
            <a:off x="571500" y="571500"/>
            <a:ext cx="11601450" cy="514350"/>
          </a:xfrm>
          <a:prstGeom prst="rect">
            <a:avLst/>
          </a:prstGeom>
          <a:noFill/>
        </p:spPr>
        <p:txBody>
          <a:bodyPr wrap="square" lIns="0" tIns="0" rIns="0" bIns="0" anchor="t">
            <a:spAutoFit/>
          </a:bodyPr>
          <a:lstStyle/>
          <a:p>
            <a:pPr algn="l"/>
            <a:r>
              <a:rPr sz="3000" b="1" i="0" u="none">
                <a:solidFill>
                  <a:srgbClr val="1E3A8A"/>
                </a:solidFill>
                <a:latin typeface="Space Grotesk"/>
              </a:rPr>
              <a:t>The Industry Challenge &amp; Problem Statement</a:t>
            </a:r>
          </a:p>
        </p:txBody>
      </p:sp>
      <p:sp>
        <p:nvSpPr>
          <p:cNvPr id="19" name="Rectangle 18"/>
          <p:cNvSpPr/>
          <p:nvPr/>
        </p:nvSpPr>
        <p:spPr>
          <a:xfrm>
            <a:off x="571500" y="1200150"/>
            <a:ext cx="11049000" cy="28575"/>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1333500" y="1361479"/>
            <a:ext cx="9525000" cy="1055191"/>
          </a:xfrm>
          <a:prstGeom prst="roundRect">
            <a:avLst>
              <a:gd name="adj" fmla="val 1083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00250" y="1599604"/>
            <a:ext cx="8572500" cy="578941"/>
          </a:xfrm>
          <a:prstGeom prst="rect">
            <a:avLst/>
          </a:prstGeom>
          <a:noFill/>
        </p:spPr>
        <p:txBody>
          <a:bodyPr wrap="square" lIns="0" tIns="0" rIns="0" bIns="0" anchor="t">
            <a:spAutoFit/>
          </a:bodyPr>
          <a:lstStyle/>
          <a:p>
            <a:pPr algn="l">
              <a:lnSpc>
                <a:spcPts val="2279"/>
              </a:lnSpc>
            </a:pPr>
            <a:r>
              <a:rPr sz="1425" b="0" i="0" u="none">
                <a:solidFill>
                  <a:srgbClr val="0F172A"/>
                </a:solidFill>
                <a:latin typeface="Inter SemiBold"/>
              </a:rPr>
              <a:t>Social Network Implementation:</a:t>
            </a:r>
            <a:r>
              <a:rPr sz="1425" b="0" i="0" u="none">
                <a:solidFill>
                  <a:srgbClr val="334155"/>
                </a:solidFill>
                <a:latin typeface="Inter"/>
              </a:rPr>
              <a:t> Construct a scalable Social Application allowing users to seamlessly create profiles, authenticate securely, post updates, and interact.</a:t>
            </a:r>
          </a:p>
        </p:txBody>
      </p:sp>
      <p:sp>
        <p:nvSpPr>
          <p:cNvPr id="5" name="Rectangle 4"/>
          <p:cNvSpPr/>
          <p:nvPr/>
        </p:nvSpPr>
        <p:spPr>
          <a:xfrm>
            <a:off x="1333500" y="1361479"/>
            <a:ext cx="47625" cy="105519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333500" y="2654796"/>
            <a:ext cx="9525000" cy="1055191"/>
          </a:xfrm>
          <a:prstGeom prst="roundRect">
            <a:avLst>
              <a:gd name="adj" fmla="val 1083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00250" y="2892921"/>
            <a:ext cx="8572500" cy="578941"/>
          </a:xfrm>
          <a:prstGeom prst="rect">
            <a:avLst/>
          </a:prstGeom>
          <a:noFill/>
        </p:spPr>
        <p:txBody>
          <a:bodyPr wrap="square" lIns="0" tIns="0" rIns="0" bIns="0" anchor="t">
            <a:spAutoFit/>
          </a:bodyPr>
          <a:lstStyle/>
          <a:p>
            <a:pPr algn="l">
              <a:lnSpc>
                <a:spcPts val="2279"/>
              </a:lnSpc>
            </a:pPr>
            <a:r>
              <a:rPr sz="1425" b="0" i="0" u="none">
                <a:solidFill>
                  <a:srgbClr val="0F172A"/>
                </a:solidFill>
                <a:latin typeface="Inter SemiBold"/>
              </a:rPr>
              <a:t>E-Commerce System Development:</a:t>
            </a:r>
            <a:r>
              <a:rPr sz="1425" b="0" i="0" u="none">
                <a:solidFill>
                  <a:srgbClr val="334155"/>
                </a:solidFill>
                <a:latin typeface="Inter"/>
              </a:rPr>
              <a:t> Develop a robust E-Commerce system featuring a dynamic product catalog, state-managed shopping cart functionality, and simulated secure checkout.</a:t>
            </a:r>
          </a:p>
        </p:txBody>
      </p:sp>
      <p:sp>
        <p:nvSpPr>
          <p:cNvPr id="8" name="Rectangle 7"/>
          <p:cNvSpPr/>
          <p:nvPr/>
        </p:nvSpPr>
        <p:spPr>
          <a:xfrm>
            <a:off x="1333500" y="2654796"/>
            <a:ext cx="47625" cy="105519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333500" y="3948112"/>
            <a:ext cx="9525000" cy="1055191"/>
          </a:xfrm>
          <a:prstGeom prst="roundRect">
            <a:avLst>
              <a:gd name="adj" fmla="val 1083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00250" y="4186237"/>
            <a:ext cx="8572500" cy="578941"/>
          </a:xfrm>
          <a:prstGeom prst="rect">
            <a:avLst/>
          </a:prstGeom>
          <a:noFill/>
        </p:spPr>
        <p:txBody>
          <a:bodyPr wrap="square" lIns="0" tIns="0" rIns="0" bIns="0" anchor="t">
            <a:spAutoFit/>
          </a:bodyPr>
          <a:lstStyle/>
          <a:p>
            <a:pPr algn="l">
              <a:lnSpc>
                <a:spcPts val="2279"/>
              </a:lnSpc>
            </a:pPr>
            <a:r>
              <a:rPr sz="1425" b="0" i="0" u="none">
                <a:solidFill>
                  <a:srgbClr val="0F172A"/>
                </a:solidFill>
                <a:latin typeface="Inter SemiBold"/>
              </a:rPr>
              <a:t>Responsive User Interfaces:</a:t>
            </a:r>
            <a:r>
              <a:rPr sz="1425" b="0" i="0" u="none">
                <a:solidFill>
                  <a:srgbClr val="334155"/>
                </a:solidFill>
                <a:latin typeface="Inter"/>
              </a:rPr>
              <a:t> Implement modern, highly responsive frontend interfaces that provide optimal and engaging UI/UX experiences across varying device screen sizes.</a:t>
            </a:r>
          </a:p>
        </p:txBody>
      </p:sp>
      <p:sp>
        <p:nvSpPr>
          <p:cNvPr id="11" name="Rectangle 10"/>
          <p:cNvSpPr/>
          <p:nvPr/>
        </p:nvSpPr>
        <p:spPr>
          <a:xfrm>
            <a:off x="1333500" y="3948112"/>
            <a:ext cx="47625" cy="105519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333500" y="5241428"/>
            <a:ext cx="9525000" cy="1055191"/>
          </a:xfrm>
          <a:prstGeom prst="roundRect">
            <a:avLst>
              <a:gd name="adj" fmla="val 1083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000250" y="5479553"/>
            <a:ext cx="8572500" cy="578941"/>
          </a:xfrm>
          <a:prstGeom prst="rect">
            <a:avLst/>
          </a:prstGeom>
          <a:noFill/>
        </p:spPr>
        <p:txBody>
          <a:bodyPr wrap="square" lIns="0" tIns="0" rIns="0" bIns="0" anchor="t">
            <a:spAutoFit/>
          </a:bodyPr>
          <a:lstStyle/>
          <a:p>
            <a:pPr algn="l">
              <a:lnSpc>
                <a:spcPts val="2279"/>
              </a:lnSpc>
            </a:pPr>
            <a:r>
              <a:rPr sz="1425" b="0" i="0" u="none">
                <a:solidFill>
                  <a:srgbClr val="0F172A"/>
                </a:solidFill>
                <a:latin typeface="Inter SemiBold"/>
              </a:rPr>
              <a:t>Robust Backend Infrastructure:</a:t>
            </a:r>
            <a:r>
              <a:rPr sz="1425" b="0" i="0" u="none">
                <a:solidFill>
                  <a:srgbClr val="334155"/>
                </a:solidFill>
                <a:latin typeface="Inter"/>
              </a:rPr>
              <a:t> Design and deploy backend RESTful APIs capable of secure database CRUD operations and efficient data retrieval pipelines.</a:t>
            </a:r>
          </a:p>
        </p:txBody>
      </p:sp>
      <p:sp>
        <p:nvSpPr>
          <p:cNvPr id="14" name="Rectangle 13"/>
          <p:cNvSpPr/>
          <p:nvPr/>
        </p:nvSpPr>
        <p:spPr>
          <a:xfrm>
            <a:off x="1333500" y="5241428"/>
            <a:ext cx="47625" cy="1055191"/>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1619250" y="1618654"/>
            <a:ext cx="228600" cy="247650"/>
          </a:xfrm>
          <a:prstGeom prst="rect">
            <a:avLst/>
          </a:prstGeom>
        </p:spPr>
      </p:pic>
      <p:pic>
        <p:nvPicPr>
          <p:cNvPr id="16" name="Picture 15" descr="image.png"/>
          <p:cNvPicPr>
            <a:picLocks noChangeAspect="1"/>
          </p:cNvPicPr>
          <p:nvPr/>
        </p:nvPicPr>
        <p:blipFill>
          <a:blip r:embed="rId4"/>
          <a:stretch>
            <a:fillRect/>
          </a:stretch>
        </p:blipFill>
        <p:spPr>
          <a:xfrm>
            <a:off x="1619250" y="2911971"/>
            <a:ext cx="200025" cy="247650"/>
          </a:xfrm>
          <a:prstGeom prst="rect">
            <a:avLst/>
          </a:prstGeom>
        </p:spPr>
      </p:pic>
      <p:pic>
        <p:nvPicPr>
          <p:cNvPr id="17" name="Picture 16" descr="image.png"/>
          <p:cNvPicPr>
            <a:picLocks noChangeAspect="1"/>
          </p:cNvPicPr>
          <p:nvPr/>
        </p:nvPicPr>
        <p:blipFill>
          <a:blip r:embed="rId5"/>
          <a:stretch>
            <a:fillRect/>
          </a:stretch>
        </p:blipFill>
        <p:spPr>
          <a:xfrm>
            <a:off x="1619250" y="4205287"/>
            <a:ext cx="257175" cy="247650"/>
          </a:xfrm>
          <a:prstGeom prst="rect">
            <a:avLst/>
          </a:prstGeom>
        </p:spPr>
      </p:pic>
      <p:pic>
        <p:nvPicPr>
          <p:cNvPr id="18" name="Picture 17" descr="image.png"/>
          <p:cNvPicPr>
            <a:picLocks noChangeAspect="1"/>
          </p:cNvPicPr>
          <p:nvPr/>
        </p:nvPicPr>
        <p:blipFill>
          <a:blip r:embed="rId6"/>
          <a:stretch>
            <a:fillRect/>
          </a:stretch>
        </p:blipFill>
        <p:spPr>
          <a:xfrm>
            <a:off x="1619250" y="5498603"/>
            <a:ext cx="228600" cy="247650"/>
          </a:xfrm>
          <a:prstGeom prst="rect">
            <a:avLst/>
          </a:prstGeom>
        </p:spPr>
      </p:pic>
      <p:sp>
        <p:nvSpPr>
          <p:cNvPr id="19" name="TextBox 18"/>
          <p:cNvSpPr txBox="1"/>
          <p:nvPr/>
        </p:nvSpPr>
        <p:spPr>
          <a:xfrm>
            <a:off x="571500" y="323254"/>
            <a:ext cx="11601450" cy="514350"/>
          </a:xfrm>
          <a:prstGeom prst="rect">
            <a:avLst/>
          </a:prstGeom>
          <a:noFill/>
        </p:spPr>
        <p:txBody>
          <a:bodyPr wrap="square" lIns="0" tIns="0" rIns="0" bIns="0" anchor="t">
            <a:spAutoFit/>
          </a:bodyPr>
          <a:lstStyle/>
          <a:p>
            <a:pPr algn="l"/>
            <a:r>
              <a:rPr sz="3000" b="1" i="0" u="none">
                <a:solidFill>
                  <a:srgbClr val="1E3A8A"/>
                </a:solidFill>
                <a:latin typeface="Space Grotesk"/>
              </a:rPr>
              <a:t>Core Project Objectives</a:t>
            </a:r>
          </a:p>
        </p:txBody>
      </p:sp>
      <p:sp>
        <p:nvSpPr>
          <p:cNvPr id="20" name="Rectangle 19"/>
          <p:cNvSpPr/>
          <p:nvPr/>
        </p:nvSpPr>
        <p:spPr>
          <a:xfrm>
            <a:off x="571500" y="951904"/>
            <a:ext cx="11049000" cy="28575"/>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746200"/>
            <a:ext cx="3492549" cy="4403824"/>
          </a:xfrm>
          <a:prstGeom prst="rect">
            <a:avLst/>
          </a:prstGeom>
        </p:spPr>
      </p:pic>
      <p:pic>
        <p:nvPicPr>
          <p:cNvPr id="4" name="Picture 3" descr="image.png"/>
          <p:cNvPicPr>
            <a:picLocks noChangeAspect="1"/>
          </p:cNvPicPr>
          <p:nvPr/>
        </p:nvPicPr>
        <p:blipFill>
          <a:blip r:embed="rId4"/>
          <a:stretch>
            <a:fillRect/>
          </a:stretch>
        </p:blipFill>
        <p:spPr>
          <a:xfrm>
            <a:off x="4349799" y="1746200"/>
            <a:ext cx="3492549" cy="4403824"/>
          </a:xfrm>
          <a:prstGeom prst="rect">
            <a:avLst/>
          </a:prstGeom>
        </p:spPr>
      </p:pic>
      <p:pic>
        <p:nvPicPr>
          <p:cNvPr id="5" name="Picture 4" descr="image.png"/>
          <p:cNvPicPr>
            <a:picLocks noChangeAspect="1"/>
          </p:cNvPicPr>
          <p:nvPr/>
        </p:nvPicPr>
        <p:blipFill>
          <a:blip r:embed="rId5"/>
          <a:stretch>
            <a:fillRect/>
          </a:stretch>
        </p:blipFill>
        <p:spPr>
          <a:xfrm>
            <a:off x="8128099" y="1746200"/>
            <a:ext cx="3492549" cy="4403824"/>
          </a:xfrm>
          <a:prstGeom prst="rect">
            <a:avLst/>
          </a:prstGeom>
        </p:spPr>
      </p:pic>
      <p:pic>
        <p:nvPicPr>
          <p:cNvPr id="6" name="Picture 5" descr="image.png"/>
          <p:cNvPicPr>
            <a:picLocks noChangeAspect="1"/>
          </p:cNvPicPr>
          <p:nvPr/>
        </p:nvPicPr>
        <p:blipFill>
          <a:blip r:embed="rId6"/>
          <a:stretch>
            <a:fillRect/>
          </a:stretch>
        </p:blipFill>
        <p:spPr>
          <a:xfrm>
            <a:off x="962025" y="2136725"/>
            <a:ext cx="714375" cy="714375"/>
          </a:xfrm>
          <a:prstGeom prst="rect">
            <a:avLst/>
          </a:prstGeom>
        </p:spPr>
      </p:pic>
      <p:sp>
        <p:nvSpPr>
          <p:cNvPr id="7" name="TextBox 6"/>
          <p:cNvSpPr txBox="1"/>
          <p:nvPr/>
        </p:nvSpPr>
        <p:spPr>
          <a:xfrm>
            <a:off x="962025" y="3089225"/>
            <a:ext cx="2786442"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Frontend Development</a:t>
            </a:r>
          </a:p>
        </p:txBody>
      </p:sp>
      <p:sp>
        <p:nvSpPr>
          <p:cNvPr id="8" name="TextBox 7"/>
          <p:cNvSpPr txBox="1"/>
          <p:nvPr/>
        </p:nvSpPr>
        <p:spPr>
          <a:xfrm>
            <a:off x="962025" y="3555950"/>
            <a:ext cx="2711499" cy="2026294"/>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Utilized HTML5, CSS3, JavaScript, and React.js to build dynamic, component-based user interfaces and manage complex application states effectively on the client side.</a:t>
            </a:r>
          </a:p>
        </p:txBody>
      </p:sp>
      <p:pic>
        <p:nvPicPr>
          <p:cNvPr id="9" name="Picture 8" descr="image.png"/>
          <p:cNvPicPr>
            <a:picLocks noChangeAspect="1"/>
          </p:cNvPicPr>
          <p:nvPr/>
        </p:nvPicPr>
        <p:blipFill>
          <a:blip r:embed="rId7"/>
          <a:stretch>
            <a:fillRect/>
          </a:stretch>
        </p:blipFill>
        <p:spPr>
          <a:xfrm>
            <a:off x="4740324" y="2136725"/>
            <a:ext cx="714375" cy="714375"/>
          </a:xfrm>
          <a:prstGeom prst="rect">
            <a:avLst/>
          </a:prstGeom>
        </p:spPr>
      </p:pic>
      <p:sp>
        <p:nvSpPr>
          <p:cNvPr id="10" name="TextBox 9"/>
          <p:cNvSpPr txBox="1"/>
          <p:nvPr/>
        </p:nvSpPr>
        <p:spPr>
          <a:xfrm>
            <a:off x="4740324" y="3089225"/>
            <a:ext cx="2646424"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Backend Architecture</a:t>
            </a:r>
          </a:p>
        </p:txBody>
      </p:sp>
      <p:sp>
        <p:nvSpPr>
          <p:cNvPr id="11" name="TextBox 10"/>
          <p:cNvSpPr txBox="1"/>
          <p:nvPr/>
        </p:nvSpPr>
        <p:spPr>
          <a:xfrm>
            <a:off x="4740324" y="3555950"/>
            <a:ext cx="2711499" cy="1736824"/>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Leveraged Node.js and Express.js to create a structured server environment, enforce strict business logic, and process JSON Web Tokens (JWT) securely.</a:t>
            </a:r>
          </a:p>
        </p:txBody>
      </p:sp>
      <p:pic>
        <p:nvPicPr>
          <p:cNvPr id="12" name="Picture 11" descr="image.png"/>
          <p:cNvPicPr>
            <a:picLocks noChangeAspect="1"/>
          </p:cNvPicPr>
          <p:nvPr/>
        </p:nvPicPr>
        <p:blipFill>
          <a:blip r:embed="rId8"/>
          <a:stretch>
            <a:fillRect/>
          </a:stretch>
        </p:blipFill>
        <p:spPr>
          <a:xfrm>
            <a:off x="8518624" y="2136725"/>
            <a:ext cx="714375" cy="714375"/>
          </a:xfrm>
          <a:prstGeom prst="rect">
            <a:avLst/>
          </a:prstGeom>
        </p:spPr>
      </p:pic>
      <p:sp>
        <p:nvSpPr>
          <p:cNvPr id="13" name="TextBox 12"/>
          <p:cNvSpPr txBox="1"/>
          <p:nvPr/>
        </p:nvSpPr>
        <p:spPr>
          <a:xfrm>
            <a:off x="8518624" y="3089225"/>
            <a:ext cx="2847074" cy="647700"/>
          </a:xfrm>
          <a:prstGeom prst="rect">
            <a:avLst/>
          </a:prstGeom>
          <a:noFill/>
        </p:spPr>
        <p:txBody>
          <a:bodyPr wrap="square" lIns="0" tIns="0" rIns="0" bIns="0" anchor="t">
            <a:spAutoFit/>
          </a:bodyPr>
          <a:lstStyle/>
          <a:p>
            <a:pPr algn="l"/>
            <a:r>
              <a:rPr sz="1950" b="0" i="0" u="none">
                <a:solidFill>
                  <a:srgbClr val="1E40AF"/>
                </a:solidFill>
                <a:latin typeface="Space Grotesk SemiBold"/>
              </a:rPr>
              <a:t>Database &amp; Deployment</a:t>
            </a:r>
          </a:p>
        </p:txBody>
      </p:sp>
      <p:sp>
        <p:nvSpPr>
          <p:cNvPr id="14" name="TextBox 13"/>
          <p:cNvSpPr txBox="1"/>
          <p:nvPr/>
        </p:nvSpPr>
        <p:spPr>
          <a:xfrm>
            <a:off x="8518624" y="3879800"/>
            <a:ext cx="2711499" cy="1736824"/>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Implemented MongoDB/SQL for relational and document data management, while utilizing Git and GitHub for continuous version control and project hosting.</a:t>
            </a:r>
          </a:p>
        </p:txBody>
      </p:sp>
      <p:pic>
        <p:nvPicPr>
          <p:cNvPr id="15" name="Picture 14" descr="image.png"/>
          <p:cNvPicPr>
            <a:picLocks noChangeAspect="1"/>
          </p:cNvPicPr>
          <p:nvPr/>
        </p:nvPicPr>
        <p:blipFill>
          <a:blip r:embed="rId9"/>
          <a:stretch>
            <a:fillRect/>
          </a:stretch>
        </p:blipFill>
        <p:spPr>
          <a:xfrm>
            <a:off x="1128712" y="2303412"/>
            <a:ext cx="381000" cy="381000"/>
          </a:xfrm>
          <a:prstGeom prst="rect">
            <a:avLst/>
          </a:prstGeom>
        </p:spPr>
      </p:pic>
      <p:pic>
        <p:nvPicPr>
          <p:cNvPr id="16" name="Picture 15" descr="image.png"/>
          <p:cNvPicPr>
            <a:picLocks noChangeAspect="1"/>
          </p:cNvPicPr>
          <p:nvPr/>
        </p:nvPicPr>
        <p:blipFill>
          <a:blip r:embed="rId10"/>
          <a:stretch>
            <a:fillRect/>
          </a:stretch>
        </p:blipFill>
        <p:spPr>
          <a:xfrm>
            <a:off x="4930824" y="2303412"/>
            <a:ext cx="333375" cy="381000"/>
          </a:xfrm>
          <a:prstGeom prst="rect">
            <a:avLst/>
          </a:prstGeom>
        </p:spPr>
      </p:pic>
      <p:pic>
        <p:nvPicPr>
          <p:cNvPr id="17" name="Picture 16" descr="image.png"/>
          <p:cNvPicPr>
            <a:picLocks noChangeAspect="1"/>
          </p:cNvPicPr>
          <p:nvPr/>
        </p:nvPicPr>
        <p:blipFill>
          <a:blip r:embed="rId11"/>
          <a:stretch>
            <a:fillRect/>
          </a:stretch>
        </p:blipFill>
        <p:spPr>
          <a:xfrm>
            <a:off x="8709124" y="2303412"/>
            <a:ext cx="333375" cy="381000"/>
          </a:xfrm>
          <a:prstGeom prst="rect">
            <a:avLst/>
          </a:prstGeom>
        </p:spPr>
      </p:pic>
      <p:sp>
        <p:nvSpPr>
          <p:cNvPr id="18" name="TextBox 17"/>
          <p:cNvSpPr txBox="1"/>
          <p:nvPr/>
        </p:nvSpPr>
        <p:spPr>
          <a:xfrm>
            <a:off x="571500" y="571500"/>
            <a:ext cx="11601450" cy="514350"/>
          </a:xfrm>
          <a:prstGeom prst="rect">
            <a:avLst/>
          </a:prstGeom>
          <a:noFill/>
        </p:spPr>
        <p:txBody>
          <a:bodyPr wrap="square" lIns="0" tIns="0" rIns="0" bIns="0" anchor="t">
            <a:spAutoFit/>
          </a:bodyPr>
          <a:lstStyle/>
          <a:p>
            <a:pPr algn="l"/>
            <a:r>
              <a:rPr sz="3000" b="1" i="0" u="none">
                <a:solidFill>
                  <a:srgbClr val="1E3A8A"/>
                </a:solidFill>
                <a:latin typeface="Space Grotesk"/>
              </a:rPr>
              <a:t>Technologies &amp; Tools Used</a:t>
            </a:r>
          </a:p>
        </p:txBody>
      </p:sp>
      <p:sp>
        <p:nvSpPr>
          <p:cNvPr id="19" name="Rectangle 18"/>
          <p:cNvSpPr/>
          <p:nvPr/>
        </p:nvSpPr>
        <p:spPr>
          <a:xfrm>
            <a:off x="571500" y="1200150"/>
            <a:ext cx="11049000" cy="28575"/>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5550693" cy="514350"/>
          </a:xfrm>
          <a:prstGeom prst="rect">
            <a:avLst/>
          </a:prstGeom>
          <a:noFill/>
        </p:spPr>
        <p:txBody>
          <a:bodyPr wrap="square" lIns="0" tIns="0" rIns="0" bIns="0" anchor="t">
            <a:spAutoFit/>
          </a:bodyPr>
          <a:lstStyle/>
          <a:p>
            <a:pPr algn="l"/>
            <a:r>
              <a:rPr sz="3000" b="1" i="0" u="none">
                <a:solidFill>
                  <a:srgbClr val="1E3A8A"/>
                </a:solidFill>
                <a:latin typeface="Space Grotesk"/>
              </a:rPr>
              <a:t>System Architecture</a:t>
            </a:r>
          </a:p>
        </p:txBody>
      </p:sp>
      <p:sp>
        <p:nvSpPr>
          <p:cNvPr id="4" name="Rectangle 3"/>
          <p:cNvSpPr/>
          <p:nvPr/>
        </p:nvSpPr>
        <p:spPr>
          <a:xfrm>
            <a:off x="571500" y="1200150"/>
            <a:ext cx="5286375" cy="28575"/>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6334125" y="0"/>
            <a:ext cx="5857875" cy="6858000"/>
          </a:xfrm>
          <a:prstGeom prst="rect">
            <a:avLst/>
          </a:prstGeom>
        </p:spPr>
      </p:pic>
      <p:sp>
        <p:nvSpPr>
          <p:cNvPr id="6" name="TextBox 5"/>
          <p:cNvSpPr txBox="1"/>
          <p:nvPr/>
        </p:nvSpPr>
        <p:spPr>
          <a:xfrm>
            <a:off x="571500" y="2328267"/>
            <a:ext cx="5550693"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Client-Server Model</a:t>
            </a:r>
          </a:p>
        </p:txBody>
      </p:sp>
      <p:sp>
        <p:nvSpPr>
          <p:cNvPr id="7" name="TextBox 6"/>
          <p:cNvSpPr txBox="1"/>
          <p:nvPr/>
        </p:nvSpPr>
        <p:spPr>
          <a:xfrm>
            <a:off x="571500" y="2794992"/>
            <a:ext cx="5286375" cy="868412"/>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Both applications leverage a strict Client-Server architecture to separate concerns, improve security, and enhance scalability.</a:t>
            </a:r>
          </a:p>
        </p:txBody>
      </p:sp>
      <p:sp>
        <p:nvSpPr>
          <p:cNvPr id="8" name="TextBox 7"/>
          <p:cNvSpPr txBox="1"/>
          <p:nvPr/>
        </p:nvSpPr>
        <p:spPr>
          <a:xfrm>
            <a:off x="571500" y="3892004"/>
            <a:ext cx="5286375" cy="1447353"/>
          </a:xfrm>
          <a:prstGeom prst="rect">
            <a:avLst/>
          </a:prstGeom>
          <a:noFill/>
        </p:spPr>
        <p:txBody>
          <a:bodyPr wrap="square" lIns="0" tIns="0" rIns="0" bIns="0" anchor="t">
            <a:spAutoFit/>
          </a:bodyPr>
          <a:lstStyle/>
          <a:p>
            <a:pPr algn="l">
              <a:lnSpc>
                <a:spcPts val="2279"/>
              </a:lnSpc>
            </a:pPr>
            <a:r>
              <a:rPr sz="1425" b="0" i="0" u="none">
                <a:solidFill>
                  <a:srgbClr val="334155"/>
                </a:solidFill>
                <a:latin typeface="Inter"/>
              </a:rPr>
              <a:t>The React-based frontend layers handle data presentation and state management, communicating asynchronously with Node.js REST APIs. The backend services enforce business logic, process tokens, and execute CRUD operations securely against the database clusters.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471987"/>
            <a:ext cx="2541240" cy="1981200"/>
          </a:xfrm>
          <a:prstGeom prst="rect">
            <a:avLst/>
          </a:prstGeom>
        </p:spPr>
      </p:pic>
      <p:pic>
        <p:nvPicPr>
          <p:cNvPr id="4" name="Picture 3" descr="image.png"/>
          <p:cNvPicPr>
            <a:picLocks noChangeAspect="1"/>
          </p:cNvPicPr>
          <p:nvPr/>
        </p:nvPicPr>
        <p:blipFill>
          <a:blip r:embed="rId4"/>
          <a:stretch>
            <a:fillRect/>
          </a:stretch>
        </p:blipFill>
        <p:spPr>
          <a:xfrm>
            <a:off x="3407419" y="2052637"/>
            <a:ext cx="2541240" cy="1752600"/>
          </a:xfrm>
          <a:prstGeom prst="rect">
            <a:avLst/>
          </a:prstGeom>
        </p:spPr>
      </p:pic>
      <p:pic>
        <p:nvPicPr>
          <p:cNvPr id="5" name="Picture 4" descr="image.png"/>
          <p:cNvPicPr>
            <a:picLocks noChangeAspect="1"/>
          </p:cNvPicPr>
          <p:nvPr/>
        </p:nvPicPr>
        <p:blipFill>
          <a:blip r:embed="rId5"/>
          <a:stretch>
            <a:fillRect/>
          </a:stretch>
        </p:blipFill>
        <p:spPr>
          <a:xfrm>
            <a:off x="6243339" y="4471987"/>
            <a:ext cx="2541240" cy="1981200"/>
          </a:xfrm>
          <a:prstGeom prst="rect">
            <a:avLst/>
          </a:prstGeom>
        </p:spPr>
      </p:pic>
      <p:pic>
        <p:nvPicPr>
          <p:cNvPr id="6" name="Picture 5" descr="image.png"/>
          <p:cNvPicPr>
            <a:picLocks noChangeAspect="1"/>
          </p:cNvPicPr>
          <p:nvPr/>
        </p:nvPicPr>
        <p:blipFill>
          <a:blip r:embed="rId6"/>
          <a:stretch>
            <a:fillRect/>
          </a:stretch>
        </p:blipFill>
        <p:spPr>
          <a:xfrm>
            <a:off x="9079259" y="2052637"/>
            <a:ext cx="2541240" cy="1752600"/>
          </a:xfrm>
          <a:prstGeom prst="rect">
            <a:avLst/>
          </a:prstGeom>
        </p:spPr>
      </p:pic>
      <p:sp>
        <p:nvSpPr>
          <p:cNvPr id="7" name="Rectangle 6"/>
          <p:cNvSpPr/>
          <p:nvPr/>
        </p:nvSpPr>
        <p:spPr>
          <a:xfrm>
            <a:off x="571500" y="3929062"/>
            <a:ext cx="110490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01" y="4719637"/>
            <a:ext cx="2148237" cy="247650"/>
          </a:xfrm>
          <a:prstGeom prst="rect">
            <a:avLst/>
          </a:prstGeom>
          <a:noFill/>
        </p:spPr>
        <p:txBody>
          <a:bodyPr wrap="square" lIns="0" tIns="0" rIns="0" bIns="0" anchor="t">
            <a:spAutoFit/>
          </a:bodyPr>
          <a:lstStyle/>
          <a:p>
            <a:pPr algn="ctr"/>
            <a:r>
              <a:rPr sz="1500" b="0" i="0" u="none">
                <a:solidFill>
                  <a:srgbClr val="1E3A8A"/>
                </a:solidFill>
                <a:latin typeface="Space Grotesk SemiBold"/>
              </a:rPr>
              <a:t>Sprint 1 - Planning</a:t>
            </a:r>
          </a:p>
        </p:txBody>
      </p:sp>
      <p:sp>
        <p:nvSpPr>
          <p:cNvPr id="9" name="TextBox 8"/>
          <p:cNvSpPr txBox="1"/>
          <p:nvPr/>
        </p:nvSpPr>
        <p:spPr>
          <a:xfrm>
            <a:off x="819150" y="5062537"/>
            <a:ext cx="2045940" cy="1143000"/>
          </a:xfrm>
          <a:prstGeom prst="rect">
            <a:avLst/>
          </a:prstGeom>
          <a:noFill/>
        </p:spPr>
        <p:txBody>
          <a:bodyPr wrap="square" lIns="0" tIns="0" rIns="0" bIns="0" anchor="t">
            <a:spAutoFit/>
          </a:bodyPr>
          <a:lstStyle/>
          <a:p>
            <a:pPr algn="ctr">
              <a:lnSpc>
                <a:spcPts val="1800"/>
              </a:lnSpc>
            </a:pPr>
            <a:r>
              <a:rPr sz="1125" b="0" i="0" u="none">
                <a:solidFill>
                  <a:srgbClr val="334155"/>
                </a:solidFill>
                <a:latin typeface="Inter"/>
              </a:rPr>
              <a:t>Initial focus on gathering strict requirements and mapping out logical database schemas for users and products.</a:t>
            </a:r>
          </a:p>
        </p:txBody>
      </p:sp>
      <p:sp>
        <p:nvSpPr>
          <p:cNvPr id="10" name="TextBox 9"/>
          <p:cNvSpPr txBox="1"/>
          <p:nvPr/>
        </p:nvSpPr>
        <p:spPr>
          <a:xfrm>
            <a:off x="3603921" y="2300287"/>
            <a:ext cx="2148237" cy="247650"/>
          </a:xfrm>
          <a:prstGeom prst="rect">
            <a:avLst/>
          </a:prstGeom>
          <a:noFill/>
        </p:spPr>
        <p:txBody>
          <a:bodyPr wrap="square" lIns="0" tIns="0" rIns="0" bIns="0" anchor="t">
            <a:spAutoFit/>
          </a:bodyPr>
          <a:lstStyle/>
          <a:p>
            <a:pPr algn="ctr"/>
            <a:r>
              <a:rPr sz="1500" b="0" i="0" u="none">
                <a:solidFill>
                  <a:srgbClr val="1E3A8A"/>
                </a:solidFill>
                <a:latin typeface="Space Grotesk SemiBold"/>
              </a:rPr>
              <a:t>Sprint 2 - Backend APIs</a:t>
            </a:r>
          </a:p>
        </p:txBody>
      </p:sp>
      <p:sp>
        <p:nvSpPr>
          <p:cNvPr id="11" name="TextBox 10"/>
          <p:cNvSpPr txBox="1"/>
          <p:nvPr/>
        </p:nvSpPr>
        <p:spPr>
          <a:xfrm>
            <a:off x="3655069" y="2643187"/>
            <a:ext cx="2045940" cy="914400"/>
          </a:xfrm>
          <a:prstGeom prst="rect">
            <a:avLst/>
          </a:prstGeom>
          <a:noFill/>
        </p:spPr>
        <p:txBody>
          <a:bodyPr wrap="square" lIns="0" tIns="0" rIns="0" bIns="0" anchor="t">
            <a:spAutoFit/>
          </a:bodyPr>
          <a:lstStyle/>
          <a:p>
            <a:pPr algn="ctr">
              <a:lnSpc>
                <a:spcPts val="1800"/>
              </a:lnSpc>
            </a:pPr>
            <a:r>
              <a:rPr sz="1125" b="0" i="0" u="none">
                <a:solidFill>
                  <a:srgbClr val="334155"/>
                </a:solidFill>
                <a:latin typeface="Inter"/>
              </a:rPr>
              <a:t>Building, securing, and rigorously testing backend REST API endpoints and core server logic operations.</a:t>
            </a:r>
          </a:p>
        </p:txBody>
      </p:sp>
      <p:sp>
        <p:nvSpPr>
          <p:cNvPr id="12" name="TextBox 11"/>
          <p:cNvSpPr txBox="1"/>
          <p:nvPr/>
        </p:nvSpPr>
        <p:spPr>
          <a:xfrm>
            <a:off x="6439841" y="4719637"/>
            <a:ext cx="2148237" cy="247650"/>
          </a:xfrm>
          <a:prstGeom prst="rect">
            <a:avLst/>
          </a:prstGeom>
          <a:noFill/>
        </p:spPr>
        <p:txBody>
          <a:bodyPr wrap="square" lIns="0" tIns="0" rIns="0" bIns="0" anchor="t">
            <a:spAutoFit/>
          </a:bodyPr>
          <a:lstStyle/>
          <a:p>
            <a:pPr algn="ctr"/>
            <a:r>
              <a:rPr sz="1500" b="0" i="0" u="none">
                <a:solidFill>
                  <a:srgbClr val="1E3A8A"/>
                </a:solidFill>
                <a:latin typeface="Space Grotesk SemiBold"/>
              </a:rPr>
              <a:t>Sprint 3 - UI/UX</a:t>
            </a:r>
          </a:p>
        </p:txBody>
      </p:sp>
      <p:sp>
        <p:nvSpPr>
          <p:cNvPr id="13" name="TextBox 12"/>
          <p:cNvSpPr txBox="1"/>
          <p:nvPr/>
        </p:nvSpPr>
        <p:spPr>
          <a:xfrm>
            <a:off x="6490989" y="5062537"/>
            <a:ext cx="2045940" cy="1143000"/>
          </a:xfrm>
          <a:prstGeom prst="rect">
            <a:avLst/>
          </a:prstGeom>
          <a:noFill/>
        </p:spPr>
        <p:txBody>
          <a:bodyPr wrap="square" lIns="0" tIns="0" rIns="0" bIns="0" anchor="t">
            <a:spAutoFit/>
          </a:bodyPr>
          <a:lstStyle/>
          <a:p>
            <a:pPr algn="ctr">
              <a:lnSpc>
                <a:spcPts val="1800"/>
              </a:lnSpc>
            </a:pPr>
            <a:r>
              <a:rPr sz="1125" b="0" i="0" u="none">
                <a:solidFill>
                  <a:srgbClr val="334155"/>
                </a:solidFill>
                <a:latin typeface="Inter"/>
              </a:rPr>
              <a:t>Iterative development and integration of interactive React frontend components based on backend functionality.</a:t>
            </a:r>
          </a:p>
        </p:txBody>
      </p:sp>
      <p:sp>
        <p:nvSpPr>
          <p:cNvPr id="14" name="TextBox 13"/>
          <p:cNvSpPr txBox="1"/>
          <p:nvPr/>
        </p:nvSpPr>
        <p:spPr>
          <a:xfrm>
            <a:off x="9275761" y="2300287"/>
            <a:ext cx="2148237" cy="247650"/>
          </a:xfrm>
          <a:prstGeom prst="rect">
            <a:avLst/>
          </a:prstGeom>
          <a:noFill/>
        </p:spPr>
        <p:txBody>
          <a:bodyPr wrap="square" lIns="0" tIns="0" rIns="0" bIns="0" anchor="t">
            <a:spAutoFit/>
          </a:bodyPr>
          <a:lstStyle/>
          <a:p>
            <a:pPr algn="ctr"/>
            <a:r>
              <a:rPr sz="1500" b="0" i="0" u="none">
                <a:solidFill>
                  <a:srgbClr val="1E3A8A"/>
                </a:solidFill>
                <a:latin typeface="Space Grotesk SemiBold"/>
              </a:rPr>
              <a:t>Sprint 4 - Deployment</a:t>
            </a:r>
          </a:p>
        </p:txBody>
      </p:sp>
      <p:sp>
        <p:nvSpPr>
          <p:cNvPr id="15" name="TextBox 14"/>
          <p:cNvSpPr txBox="1"/>
          <p:nvPr/>
        </p:nvSpPr>
        <p:spPr>
          <a:xfrm>
            <a:off x="9326909" y="2643187"/>
            <a:ext cx="2045940" cy="914400"/>
          </a:xfrm>
          <a:prstGeom prst="rect">
            <a:avLst/>
          </a:prstGeom>
          <a:noFill/>
        </p:spPr>
        <p:txBody>
          <a:bodyPr wrap="square" lIns="0" tIns="0" rIns="0" bIns="0" anchor="t">
            <a:spAutoFit/>
          </a:bodyPr>
          <a:lstStyle/>
          <a:p>
            <a:pPr algn="ctr">
              <a:lnSpc>
                <a:spcPts val="1800"/>
              </a:lnSpc>
            </a:pPr>
            <a:r>
              <a:rPr sz="1125" b="0" i="0" u="none">
                <a:solidFill>
                  <a:srgbClr val="334155"/>
                </a:solidFill>
                <a:latin typeface="Inter"/>
              </a:rPr>
              <a:t>Thorough full-stack testing, debugging, repository finalization, and deployment of both web applications.</a:t>
            </a:r>
          </a:p>
        </p:txBody>
      </p:sp>
      <p:sp>
        <p:nvSpPr>
          <p:cNvPr id="16" name="Rounded Rectangle 15"/>
          <p:cNvSpPr/>
          <p:nvPr/>
        </p:nvSpPr>
        <p:spPr>
          <a:xfrm>
            <a:off x="1727820" y="4024312"/>
            <a:ext cx="228600" cy="228600"/>
          </a:xfrm>
          <a:prstGeom prst="roundRect">
            <a:avLst>
              <a:gd name="adj" fmla="val 50000"/>
            </a:avLst>
          </a:prstGeom>
          <a:solidFill>
            <a:srgbClr val="FFFFFF"/>
          </a:solidFill>
          <a:ln w="381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563740" y="4024312"/>
            <a:ext cx="228600" cy="228600"/>
          </a:xfrm>
          <a:prstGeom prst="roundRect">
            <a:avLst>
              <a:gd name="adj" fmla="val 50000"/>
            </a:avLst>
          </a:prstGeom>
          <a:solidFill>
            <a:srgbClr val="FFFFFF"/>
          </a:solidFill>
          <a:ln w="381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99659" y="4024312"/>
            <a:ext cx="228600" cy="228600"/>
          </a:xfrm>
          <a:prstGeom prst="roundRect">
            <a:avLst>
              <a:gd name="adj" fmla="val 50000"/>
            </a:avLst>
          </a:prstGeom>
          <a:solidFill>
            <a:srgbClr val="FFFFFF"/>
          </a:solidFill>
          <a:ln w="381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235579" y="4024312"/>
            <a:ext cx="228600" cy="228600"/>
          </a:xfrm>
          <a:prstGeom prst="roundRect">
            <a:avLst>
              <a:gd name="adj" fmla="val 50000"/>
            </a:avLst>
          </a:prstGeom>
          <a:solidFill>
            <a:srgbClr val="FFFFFF"/>
          </a:solidFill>
          <a:ln w="3810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1500" y="571500"/>
            <a:ext cx="11601450" cy="514350"/>
          </a:xfrm>
          <a:prstGeom prst="rect">
            <a:avLst/>
          </a:prstGeom>
          <a:noFill/>
        </p:spPr>
        <p:txBody>
          <a:bodyPr wrap="square" lIns="0" tIns="0" rIns="0" bIns="0" anchor="t">
            <a:spAutoFit/>
          </a:bodyPr>
          <a:lstStyle/>
          <a:p>
            <a:pPr algn="l"/>
            <a:r>
              <a:rPr sz="3000" b="1" i="0" u="none">
                <a:solidFill>
                  <a:srgbClr val="1E3A8A"/>
                </a:solidFill>
                <a:latin typeface="Space Grotesk"/>
              </a:rPr>
              <a:t>Agile Development Methodology</a:t>
            </a:r>
          </a:p>
        </p:txBody>
      </p:sp>
      <p:sp>
        <p:nvSpPr>
          <p:cNvPr id="21" name="Rectangle 20"/>
          <p:cNvSpPr/>
          <p:nvPr/>
        </p:nvSpPr>
        <p:spPr>
          <a:xfrm>
            <a:off x="571500" y="1200150"/>
            <a:ext cx="11049000" cy="28575"/>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17501"/>
            <a:ext cx="3492549" cy="4061221"/>
          </a:xfrm>
          <a:prstGeom prst="rect">
            <a:avLst/>
          </a:prstGeom>
        </p:spPr>
      </p:pic>
      <p:pic>
        <p:nvPicPr>
          <p:cNvPr id="4" name="Picture 3" descr="image.png"/>
          <p:cNvPicPr>
            <a:picLocks noChangeAspect="1"/>
          </p:cNvPicPr>
          <p:nvPr/>
        </p:nvPicPr>
        <p:blipFill>
          <a:blip r:embed="rId4"/>
          <a:stretch>
            <a:fillRect/>
          </a:stretch>
        </p:blipFill>
        <p:spPr>
          <a:xfrm>
            <a:off x="4349799" y="1917501"/>
            <a:ext cx="3492549" cy="4061221"/>
          </a:xfrm>
          <a:prstGeom prst="rect">
            <a:avLst/>
          </a:prstGeom>
        </p:spPr>
      </p:pic>
      <p:pic>
        <p:nvPicPr>
          <p:cNvPr id="5" name="Picture 4" descr="image.png"/>
          <p:cNvPicPr>
            <a:picLocks noChangeAspect="1"/>
          </p:cNvPicPr>
          <p:nvPr/>
        </p:nvPicPr>
        <p:blipFill>
          <a:blip r:embed="rId5"/>
          <a:stretch>
            <a:fillRect/>
          </a:stretch>
        </p:blipFill>
        <p:spPr>
          <a:xfrm>
            <a:off x="8128099" y="1917501"/>
            <a:ext cx="3492549" cy="4061221"/>
          </a:xfrm>
          <a:prstGeom prst="rect">
            <a:avLst/>
          </a:prstGeom>
        </p:spPr>
      </p:pic>
      <p:pic>
        <p:nvPicPr>
          <p:cNvPr id="6" name="Picture 5" descr="image.png"/>
          <p:cNvPicPr>
            <a:picLocks noChangeAspect="1"/>
          </p:cNvPicPr>
          <p:nvPr/>
        </p:nvPicPr>
        <p:blipFill>
          <a:blip r:embed="rId6"/>
          <a:stretch>
            <a:fillRect/>
          </a:stretch>
        </p:blipFill>
        <p:spPr>
          <a:xfrm>
            <a:off x="571500" y="1917501"/>
            <a:ext cx="3492549" cy="2286000"/>
          </a:xfrm>
          <a:prstGeom prst="rect">
            <a:avLst/>
          </a:prstGeom>
        </p:spPr>
      </p:pic>
      <p:pic>
        <p:nvPicPr>
          <p:cNvPr id="7" name="Picture 6" descr="image.png"/>
          <p:cNvPicPr>
            <a:picLocks noChangeAspect="1"/>
          </p:cNvPicPr>
          <p:nvPr/>
        </p:nvPicPr>
        <p:blipFill>
          <a:blip r:embed="rId7"/>
          <a:stretch>
            <a:fillRect/>
          </a:stretch>
        </p:blipFill>
        <p:spPr>
          <a:xfrm>
            <a:off x="4349799" y="1917501"/>
            <a:ext cx="3492549" cy="2286000"/>
          </a:xfrm>
          <a:prstGeom prst="rect">
            <a:avLst/>
          </a:prstGeom>
        </p:spPr>
      </p:pic>
      <p:pic>
        <p:nvPicPr>
          <p:cNvPr id="8" name="Picture 7" descr="image.png"/>
          <p:cNvPicPr>
            <a:picLocks noChangeAspect="1"/>
          </p:cNvPicPr>
          <p:nvPr/>
        </p:nvPicPr>
        <p:blipFill>
          <a:blip r:embed="rId8"/>
          <a:stretch>
            <a:fillRect/>
          </a:stretch>
        </p:blipFill>
        <p:spPr>
          <a:xfrm>
            <a:off x="8128099" y="1917501"/>
            <a:ext cx="3492549" cy="2286000"/>
          </a:xfrm>
          <a:prstGeom prst="rect">
            <a:avLst/>
          </a:prstGeom>
        </p:spPr>
      </p:pic>
      <p:sp>
        <p:nvSpPr>
          <p:cNvPr id="9" name="TextBox 8"/>
          <p:cNvSpPr txBox="1"/>
          <p:nvPr/>
        </p:nvSpPr>
        <p:spPr>
          <a:xfrm>
            <a:off x="571500" y="4394001"/>
            <a:ext cx="3667177"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Social Platform</a:t>
            </a:r>
          </a:p>
        </p:txBody>
      </p:sp>
      <p:sp>
        <p:nvSpPr>
          <p:cNvPr id="10" name="TextBox 9"/>
          <p:cNvSpPr txBox="1"/>
          <p:nvPr/>
        </p:nvSpPr>
        <p:spPr>
          <a:xfrm>
            <a:off x="571500" y="4860726"/>
            <a:ext cx="3492549" cy="975121"/>
          </a:xfrm>
          <a:prstGeom prst="rect">
            <a:avLst/>
          </a:prstGeom>
          <a:noFill/>
        </p:spPr>
        <p:txBody>
          <a:bodyPr wrap="square" lIns="0" tIns="0" rIns="0" bIns="0" anchor="t">
            <a:spAutoFit/>
          </a:bodyPr>
          <a:lstStyle/>
          <a:p>
            <a:pPr algn="l">
              <a:lnSpc>
                <a:spcPts val="1920"/>
              </a:lnSpc>
            </a:pPr>
            <a:r>
              <a:rPr sz="1200" b="0" i="0" u="none">
                <a:solidFill>
                  <a:srgbClr val="64748B"/>
                </a:solidFill>
                <a:latin typeface="Inter"/>
              </a:rPr>
              <a:t>A fully functional social app demonstrating clear proficiency in managing relational user data, secure authentication, and dynamic social feeds.</a:t>
            </a:r>
          </a:p>
        </p:txBody>
      </p:sp>
      <p:sp>
        <p:nvSpPr>
          <p:cNvPr id="11" name="TextBox 10"/>
          <p:cNvSpPr txBox="1"/>
          <p:nvPr/>
        </p:nvSpPr>
        <p:spPr>
          <a:xfrm>
            <a:off x="4349799" y="4394001"/>
            <a:ext cx="3667177"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E-Commerce System</a:t>
            </a:r>
          </a:p>
        </p:txBody>
      </p:sp>
      <p:sp>
        <p:nvSpPr>
          <p:cNvPr id="12" name="TextBox 11"/>
          <p:cNvSpPr txBox="1"/>
          <p:nvPr/>
        </p:nvSpPr>
        <p:spPr>
          <a:xfrm>
            <a:off x="4349799" y="4860726"/>
            <a:ext cx="3492549" cy="731341"/>
          </a:xfrm>
          <a:prstGeom prst="rect">
            <a:avLst/>
          </a:prstGeom>
          <a:noFill/>
        </p:spPr>
        <p:txBody>
          <a:bodyPr wrap="square" lIns="0" tIns="0" rIns="0" bIns="0" anchor="t">
            <a:spAutoFit/>
          </a:bodyPr>
          <a:lstStyle/>
          <a:p>
            <a:pPr algn="l">
              <a:lnSpc>
                <a:spcPts val="1920"/>
              </a:lnSpc>
            </a:pPr>
            <a:r>
              <a:rPr sz="1200" b="0" i="0" u="none">
                <a:solidFill>
                  <a:srgbClr val="64748B"/>
                </a:solidFill>
                <a:latin typeface="Inter"/>
              </a:rPr>
              <a:t>A digital storefront showcasing the ability to handle complex transactional logic, product states, and seamless cart session management.</a:t>
            </a:r>
          </a:p>
        </p:txBody>
      </p:sp>
      <p:sp>
        <p:nvSpPr>
          <p:cNvPr id="13" name="TextBox 12"/>
          <p:cNvSpPr txBox="1"/>
          <p:nvPr/>
        </p:nvSpPr>
        <p:spPr>
          <a:xfrm>
            <a:off x="8128099" y="4394001"/>
            <a:ext cx="3667177" cy="323850"/>
          </a:xfrm>
          <a:prstGeom prst="rect">
            <a:avLst/>
          </a:prstGeom>
          <a:noFill/>
        </p:spPr>
        <p:txBody>
          <a:bodyPr wrap="square" lIns="0" tIns="0" rIns="0" bIns="0" anchor="t">
            <a:spAutoFit/>
          </a:bodyPr>
          <a:lstStyle/>
          <a:p>
            <a:pPr algn="l"/>
            <a:r>
              <a:rPr sz="1950" b="0" i="0" u="none">
                <a:solidFill>
                  <a:srgbClr val="1E40AF"/>
                </a:solidFill>
                <a:latin typeface="Space Grotesk SemiBold"/>
              </a:rPr>
              <a:t>Robust Deployment</a:t>
            </a:r>
          </a:p>
        </p:txBody>
      </p:sp>
      <p:sp>
        <p:nvSpPr>
          <p:cNvPr id="14" name="TextBox 13"/>
          <p:cNvSpPr txBox="1"/>
          <p:nvPr/>
        </p:nvSpPr>
        <p:spPr>
          <a:xfrm>
            <a:off x="8128099" y="4860726"/>
            <a:ext cx="3492549" cy="731341"/>
          </a:xfrm>
          <a:prstGeom prst="rect">
            <a:avLst/>
          </a:prstGeom>
          <a:noFill/>
        </p:spPr>
        <p:txBody>
          <a:bodyPr wrap="square" lIns="0" tIns="0" rIns="0" bIns="0" anchor="t">
            <a:spAutoFit/>
          </a:bodyPr>
          <a:lstStyle/>
          <a:p>
            <a:pPr algn="l">
              <a:lnSpc>
                <a:spcPts val="1920"/>
              </a:lnSpc>
            </a:pPr>
            <a:r>
              <a:rPr sz="1200" b="0" i="0" u="none">
                <a:solidFill>
                  <a:srgbClr val="64748B"/>
                </a:solidFill>
                <a:latin typeface="Inter"/>
              </a:rPr>
              <a:t>Two scalable digital platforms built from scratch utilizing modern web development architectures, available on GitHub.</a:t>
            </a:r>
          </a:p>
        </p:txBody>
      </p:sp>
      <p:pic>
        <p:nvPicPr>
          <p:cNvPr id="15" name="Picture 14" descr="image.png"/>
          <p:cNvPicPr>
            <a:picLocks noChangeAspect="1"/>
          </p:cNvPicPr>
          <p:nvPr/>
        </p:nvPicPr>
        <p:blipFill>
          <a:blip r:embed="rId9"/>
          <a:stretch>
            <a:fillRect/>
          </a:stretch>
        </p:blipFill>
        <p:spPr>
          <a:xfrm>
            <a:off x="581025" y="1927026"/>
            <a:ext cx="3473499" cy="2266950"/>
          </a:xfrm>
          <a:prstGeom prst="rect">
            <a:avLst/>
          </a:prstGeom>
        </p:spPr>
      </p:pic>
      <p:pic>
        <p:nvPicPr>
          <p:cNvPr id="16" name="Picture 15" descr="image.png"/>
          <p:cNvPicPr>
            <a:picLocks noChangeAspect="1"/>
          </p:cNvPicPr>
          <p:nvPr/>
        </p:nvPicPr>
        <p:blipFill>
          <a:blip r:embed="rId10"/>
          <a:stretch>
            <a:fillRect/>
          </a:stretch>
        </p:blipFill>
        <p:spPr>
          <a:xfrm>
            <a:off x="4359324" y="1927026"/>
            <a:ext cx="3473499" cy="2266950"/>
          </a:xfrm>
          <a:prstGeom prst="rect">
            <a:avLst/>
          </a:prstGeom>
        </p:spPr>
      </p:pic>
      <p:pic>
        <p:nvPicPr>
          <p:cNvPr id="17" name="Picture 16" descr="image.png"/>
          <p:cNvPicPr>
            <a:picLocks noChangeAspect="1"/>
          </p:cNvPicPr>
          <p:nvPr/>
        </p:nvPicPr>
        <p:blipFill>
          <a:blip r:embed="rId11"/>
          <a:stretch>
            <a:fillRect/>
          </a:stretch>
        </p:blipFill>
        <p:spPr>
          <a:xfrm>
            <a:off x="8137624" y="1927026"/>
            <a:ext cx="3473499" cy="2266950"/>
          </a:xfrm>
          <a:prstGeom prst="rect">
            <a:avLst/>
          </a:prstGeom>
        </p:spPr>
      </p:pic>
      <p:sp>
        <p:nvSpPr>
          <p:cNvPr id="18" name="TextBox 17"/>
          <p:cNvSpPr txBox="1"/>
          <p:nvPr/>
        </p:nvSpPr>
        <p:spPr>
          <a:xfrm>
            <a:off x="571500" y="571500"/>
            <a:ext cx="11601450" cy="514350"/>
          </a:xfrm>
          <a:prstGeom prst="rect">
            <a:avLst/>
          </a:prstGeom>
          <a:noFill/>
        </p:spPr>
        <p:txBody>
          <a:bodyPr wrap="square" lIns="0" tIns="0" rIns="0" bIns="0" anchor="t">
            <a:spAutoFit/>
          </a:bodyPr>
          <a:lstStyle/>
          <a:p>
            <a:pPr algn="l"/>
            <a:r>
              <a:rPr sz="3000" b="1" i="0" u="none">
                <a:solidFill>
                  <a:srgbClr val="1E3A8A"/>
                </a:solidFill>
                <a:latin typeface="Space Grotesk"/>
              </a:rPr>
              <a:t>Expected Outcomes &amp; Deliverables</a:t>
            </a:r>
          </a:p>
        </p:txBody>
      </p:sp>
      <p:sp>
        <p:nvSpPr>
          <p:cNvPr id="19" name="Rectangle 18"/>
          <p:cNvSpPr/>
          <p:nvPr/>
        </p:nvSpPr>
        <p:spPr>
          <a:xfrm>
            <a:off x="571500" y="1200150"/>
            <a:ext cx="11049000" cy="28575"/>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5FB723-4EAC-BDB8-C0C1-68ED58B51995}"/>
              </a:ext>
            </a:extLst>
          </p:cNvPr>
          <p:cNvPicPr>
            <a:picLocks noChangeAspect="1"/>
          </p:cNvPicPr>
          <p:nvPr/>
        </p:nvPicPr>
        <p:blipFill>
          <a:blip r:embed="rId2"/>
          <a:stretch>
            <a:fillRect/>
          </a:stretch>
        </p:blipFill>
        <p:spPr>
          <a:xfrm>
            <a:off x="2832256" y="1151885"/>
            <a:ext cx="6184423" cy="4123036"/>
          </a:xfrm>
          <a:prstGeom prst="rect">
            <a:avLst/>
          </a:prstGeom>
        </p:spPr>
      </p:pic>
    </p:spTree>
    <p:extLst>
      <p:ext uri="{BB962C8B-B14F-4D97-AF65-F5344CB8AC3E}">
        <p14:creationId xmlns:p14="http://schemas.microsoft.com/office/powerpoint/2010/main" val="4147341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4500562" y="4197548"/>
            <a:ext cx="3190875" cy="609600"/>
          </a:xfrm>
          <a:prstGeom prst="rect">
            <a:avLst/>
          </a:prstGeom>
        </p:spPr>
      </p:pic>
      <p:sp>
        <p:nvSpPr>
          <p:cNvPr id="4" name="TextBox 3"/>
          <p:cNvSpPr txBox="1"/>
          <p:nvPr/>
        </p:nvSpPr>
        <p:spPr>
          <a:xfrm>
            <a:off x="295275" y="2050702"/>
            <a:ext cx="11601450" cy="971550"/>
          </a:xfrm>
          <a:prstGeom prst="rect">
            <a:avLst/>
          </a:prstGeom>
          <a:noFill/>
        </p:spPr>
        <p:txBody>
          <a:bodyPr wrap="square" lIns="0" tIns="0" rIns="0" bIns="0" anchor="t">
            <a:spAutoFit/>
          </a:bodyPr>
          <a:lstStyle/>
          <a:p>
            <a:pPr algn="ctr"/>
            <a:r>
              <a:rPr sz="6000" b="1" i="0" u="none" dirty="0">
                <a:solidFill>
                  <a:srgbClr val="1E3A8A"/>
                </a:solidFill>
                <a:latin typeface="Space Grotesk"/>
              </a:rPr>
              <a:t>Thank You!</a:t>
            </a:r>
          </a:p>
        </p:txBody>
      </p:sp>
      <p:sp>
        <p:nvSpPr>
          <p:cNvPr id="5" name="TextBox 4"/>
          <p:cNvSpPr txBox="1"/>
          <p:nvPr/>
        </p:nvSpPr>
        <p:spPr>
          <a:xfrm>
            <a:off x="571500" y="3212752"/>
            <a:ext cx="11049000" cy="365670"/>
          </a:xfrm>
          <a:prstGeom prst="rect">
            <a:avLst/>
          </a:prstGeom>
          <a:noFill/>
        </p:spPr>
        <p:txBody>
          <a:bodyPr wrap="square" lIns="0" tIns="0" rIns="0" bIns="0" anchor="t">
            <a:spAutoFit/>
          </a:bodyPr>
          <a:lstStyle/>
          <a:p>
            <a:pPr algn="ctr">
              <a:lnSpc>
                <a:spcPts val="2879"/>
              </a:lnSpc>
            </a:pPr>
            <a:r>
              <a:rPr sz="1800" b="0" i="0" u="none" dirty="0">
                <a:solidFill>
                  <a:srgbClr val="475569"/>
                </a:solidFill>
                <a:latin typeface="Inter Medium"/>
              </a:rPr>
              <a:t>End of Presentation</a:t>
            </a:r>
          </a:p>
        </p:txBody>
      </p:sp>
      <p:pic>
        <p:nvPicPr>
          <p:cNvPr id="6" name="Picture 5" descr="image.png"/>
          <p:cNvPicPr>
            <a:picLocks noChangeAspect="1"/>
          </p:cNvPicPr>
          <p:nvPr/>
        </p:nvPicPr>
        <p:blipFill>
          <a:blip r:embed="rId5"/>
          <a:stretch>
            <a:fillRect/>
          </a:stretch>
        </p:blipFill>
        <p:spPr>
          <a:xfrm>
            <a:off x="4881562" y="4407098"/>
            <a:ext cx="180975" cy="190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625</Words>
  <Application>Microsoft Office PowerPoint</Application>
  <PresentationFormat>Widescreen</PresentationFormat>
  <Paragraphs>69</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Calibri</vt:lpstr>
      <vt:lpstr>Inter</vt:lpstr>
      <vt:lpstr>Inter Medium</vt:lpstr>
      <vt:lpstr>Inter SemiBold</vt:lpstr>
      <vt:lpstr>Space Grotesk</vt:lpstr>
      <vt:lpstr>Space Grotesk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soni123456d11@outlook.com</cp:lastModifiedBy>
  <cp:revision>2</cp:revision>
  <dcterms:created xsi:type="dcterms:W3CDTF">2013-01-27T09:14:16Z</dcterms:created>
  <dcterms:modified xsi:type="dcterms:W3CDTF">2026-09-09T16:19:30Z</dcterms:modified>
  <cp:category/>
</cp:coreProperties>
</file>